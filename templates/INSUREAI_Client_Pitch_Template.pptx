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7"/>
  </p:notesMasterIdLst>
  <p:sldIdLst>
    <p:sldId id="256" r:id="rId2"/>
    <p:sldId id="269" r:id="rId3"/>
    <p:sldId id="277" r:id="rId4"/>
    <p:sldId id="264" r:id="rId5"/>
    <p:sldId id="278" r:id="rId6"/>
  </p:sldIdLst>
  <p:sldSz cx="9144000" cy="5143500" type="screen16x9"/>
  <p:notesSz cx="6858000" cy="9144000"/>
  <p:embeddedFontLst>
    <p:embeddedFont>
      <p:font typeface="DM Serif Display" pitchFamily="2" charset="0"/>
      <p:regular r:id="rId8"/>
      <p:italic r:id="rId9"/>
    </p:embeddedFont>
    <p:embeddedFont>
      <p:font typeface="Open Sans Light" panose="020B0306030504020204" pitchFamily="34" charset="0"/>
      <p:regular r:id="rId10"/>
      <p:bold r:id="rId11"/>
      <p:italic r:id="rId12"/>
      <p:boldItalic r:id="rId1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812F390-50CE-4383-A20C-33A3B3660635}">
  <a:tblStyle styleId="{4812F390-50CE-4383-A20C-33A3B366063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5f24f68604_0_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5f24f68604_0_6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5465e7bc0b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5465e7bc0b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54713f6f7e_0_5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54713f6f7e_0_5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>
          <a:extLst>
            <a:ext uri="{FF2B5EF4-FFF2-40B4-BE49-F238E27FC236}">
              <a16:creationId xmlns:a16="http://schemas.microsoft.com/office/drawing/2014/main" id="{C56C9CD6-01BA-A945-E840-24414EC61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54713f6f7e_0_543:notes">
            <a:extLst>
              <a:ext uri="{FF2B5EF4-FFF2-40B4-BE49-F238E27FC236}">
                <a16:creationId xmlns:a16="http://schemas.microsoft.com/office/drawing/2014/main" id="{F15A9C8B-E9DC-2CD8-3358-EC8B5FEBB9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54713f6f7e_0_543:notes">
            <a:extLst>
              <a:ext uri="{FF2B5EF4-FFF2-40B4-BE49-F238E27FC236}">
                <a16:creationId xmlns:a16="http://schemas.microsoft.com/office/drawing/2014/main" id="{56F216D4-3257-6DDA-6FC3-D08D25E69F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00852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pening slide">
  <p:cSld name="CUSTOM_7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2449550" y="1472625"/>
            <a:ext cx="42450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4800"/>
              <a:buFont typeface="DM Serif Display"/>
              <a:buNone/>
              <a:defRPr sz="4800">
                <a:solidFill>
                  <a:srgbClr val="CCCCCC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070875" y="2901600"/>
            <a:ext cx="50022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None/>
              <a:defRPr>
                <a:solidFill>
                  <a:srgbClr val="CCCCCC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None/>
              <a:defRPr sz="2800">
                <a:solidFill>
                  <a:srgbClr val="CCCCCC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s 2">
  <p:cSld name="TITLE_ONLY_3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ctrTitle"/>
          </p:nvPr>
        </p:nvSpPr>
        <p:spPr>
          <a:xfrm>
            <a:off x="-539012" y="2132593"/>
            <a:ext cx="4567800" cy="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subTitle" idx="1"/>
          </p:nvPr>
        </p:nvSpPr>
        <p:spPr>
          <a:xfrm>
            <a:off x="1231588" y="3202043"/>
            <a:ext cx="27972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ubTitle" idx="2"/>
          </p:nvPr>
        </p:nvSpPr>
        <p:spPr>
          <a:xfrm>
            <a:off x="5115470" y="3202043"/>
            <a:ext cx="2797200" cy="11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ctrTitle" idx="3"/>
          </p:nvPr>
        </p:nvSpPr>
        <p:spPr>
          <a:xfrm>
            <a:off x="5115470" y="2132593"/>
            <a:ext cx="4587300" cy="94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design">
  <p:cSld name="CUSTOM_6_1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2"/>
          <p:cNvSpPr txBox="1">
            <a:spLocks noGrp="1"/>
          </p:cNvSpPr>
          <p:nvPr>
            <p:ph type="ctrTitle"/>
          </p:nvPr>
        </p:nvSpPr>
        <p:spPr>
          <a:xfrm>
            <a:off x="723600" y="470625"/>
            <a:ext cx="14976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26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>
  <p:cSld name="CUSTOM_27"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DM Serif Display"/>
              <a:buNone/>
              <a:defRPr sz="280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●"/>
              <a:defRPr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lvl="1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○"/>
              <a:defRPr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lvl="2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■"/>
              <a:defRPr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lvl="3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●"/>
              <a:defRPr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lvl="4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○"/>
              <a:defRPr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lvl="5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■"/>
              <a:defRPr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lvl="6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●"/>
              <a:defRPr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lvl="7" indent="-304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pen Sans Light"/>
              <a:buChar char="○"/>
              <a:defRPr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lvl="8" indent="-30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Open Sans Light"/>
              <a:buChar char="■"/>
              <a:defRPr sz="1200">
                <a:solidFill>
                  <a:schemeClr val="dk1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6" r:id="rId2"/>
    <p:sldLayoutId id="2147483658" r:id="rId3"/>
    <p:sldLayoutId id="2147483669" r:id="rId4"/>
    <p:sldLayoutId id="2147483670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0" b="-10000"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00E10E18-852D-9C5A-BFE7-8977BB64DC39}"/>
              </a:ext>
            </a:extLst>
          </p:cNvPr>
          <p:cNvSpPr/>
          <p:nvPr/>
        </p:nvSpPr>
        <p:spPr>
          <a:xfrm>
            <a:off x="137530" y="1460888"/>
            <a:ext cx="8868937" cy="3251336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4" name="Google Shape;144;p29"/>
          <p:cNvSpPr/>
          <p:nvPr/>
        </p:nvSpPr>
        <p:spPr>
          <a:xfrm rot="10800000">
            <a:off x="7782000" y="367900"/>
            <a:ext cx="952500" cy="826275"/>
          </a:xfrm>
          <a:custGeom>
            <a:avLst/>
            <a:gdLst/>
            <a:ahLst/>
            <a:cxnLst/>
            <a:rect l="l" t="t" r="r" b="b"/>
            <a:pathLst>
              <a:path w="38100" h="33051" extrusionOk="0">
                <a:moveTo>
                  <a:pt x="0" y="0"/>
                </a:moveTo>
                <a:lnTo>
                  <a:pt x="0" y="33051"/>
                </a:lnTo>
                <a:lnTo>
                  <a:pt x="38100" y="33051"/>
                </a:lnTo>
              </a:path>
            </a:pathLst>
          </a:cu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6" name="Google Shape;146;p29"/>
          <p:cNvSpPr txBox="1">
            <a:spLocks noGrp="1"/>
          </p:cNvSpPr>
          <p:nvPr>
            <p:ph type="subTitle" idx="1"/>
          </p:nvPr>
        </p:nvSpPr>
        <p:spPr>
          <a:xfrm>
            <a:off x="2539649" y="963718"/>
            <a:ext cx="4064700" cy="3531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dirty="0">
                <a:solidFill>
                  <a:schemeClr val="bg1"/>
                </a:solidFill>
              </a:rPr>
              <a:t>Employee Health Insurance Advisory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47" name="Google Shape;147;p29"/>
          <p:cNvSpPr txBox="1">
            <a:spLocks noGrp="1"/>
          </p:cNvSpPr>
          <p:nvPr>
            <p:ph type="ctrTitle"/>
          </p:nvPr>
        </p:nvSpPr>
        <p:spPr>
          <a:xfrm>
            <a:off x="1724721" y="152972"/>
            <a:ext cx="5694557" cy="81074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[COMPANY_NAME]</a:t>
            </a:r>
            <a:endParaRPr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01F4309-47E6-25C4-02DB-0716ECBFCE50}"/>
              </a:ext>
            </a:extLst>
          </p:cNvPr>
          <p:cNvSpPr txBox="1"/>
          <p:nvPr/>
        </p:nvSpPr>
        <p:spPr>
          <a:xfrm>
            <a:off x="375194" y="1459864"/>
            <a:ext cx="3730008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1" u="sng" dirty="0">
                <a:solidFill>
                  <a:schemeClr val="bg1"/>
                </a:solidFill>
                <a:latin typeface="DM Serif Display" panose="020F0502020204030204" pitchFamily="2" charset="0"/>
              </a:rPr>
              <a:t>Company Overview</a:t>
            </a:r>
          </a:p>
          <a:p>
            <a:br>
              <a:rPr lang="en-IN" sz="1600" dirty="0">
                <a:solidFill>
                  <a:schemeClr val="bg1"/>
                </a:solidFill>
                <a:latin typeface="DM Serif Display" panose="020F0502020204030204" pitchFamily="2" charset="0"/>
              </a:rPr>
            </a:br>
            <a:r>
              <a:rPr lang="en-IN" sz="1200" dirty="0">
                <a:solidFill>
                  <a:schemeClr val="bg1"/>
                </a:solidFill>
                <a:latin typeface="DM Serif Display" panose="020F0502020204030204" pitchFamily="2" charset="0"/>
              </a:rPr>
              <a:t>Industry: [INDUSTRY]</a:t>
            </a:r>
          </a:p>
          <a:p>
            <a:br>
              <a:rPr lang="en-IN" sz="1200" dirty="0">
                <a:solidFill>
                  <a:schemeClr val="bg1"/>
                </a:solidFill>
                <a:latin typeface="DM Serif Display" panose="020F0502020204030204" pitchFamily="2" charset="0"/>
              </a:rPr>
            </a:br>
            <a:r>
              <a:rPr lang="en-IN" sz="1200" dirty="0">
                <a:solidFill>
                  <a:schemeClr val="bg1"/>
                </a:solidFill>
                <a:latin typeface="DM Serif Display" panose="020F0502020204030204" pitchFamily="2" charset="0"/>
              </a:rPr>
              <a:t>Company Size: [COMPANY_SIZE]</a:t>
            </a:r>
          </a:p>
          <a:p>
            <a:br>
              <a:rPr lang="en-IN" sz="1200" dirty="0">
                <a:solidFill>
                  <a:schemeClr val="bg1"/>
                </a:solidFill>
                <a:latin typeface="DM Serif Display" panose="020F0502020204030204" pitchFamily="2" charset="0"/>
              </a:rPr>
            </a:br>
            <a:r>
              <a:rPr lang="en-IN" sz="1200" dirty="0">
                <a:solidFill>
                  <a:schemeClr val="bg1"/>
                </a:solidFill>
                <a:latin typeface="DM Serif Display" panose="020F0502020204030204" pitchFamily="2" charset="0"/>
              </a:rPr>
              <a:t>Workforce: [WORKFORCE_CONTEXT]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2C0522-784F-2877-56F8-56E8FDC93E50}"/>
              </a:ext>
            </a:extLst>
          </p:cNvPr>
          <p:cNvSpPr txBox="1"/>
          <p:nvPr/>
        </p:nvSpPr>
        <p:spPr>
          <a:xfrm>
            <a:off x="5038799" y="1459864"/>
            <a:ext cx="373000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  <a:latin typeface="DM Serif Display" panose="020F0502020204030204" pitchFamily="2" charset="0"/>
              </a:rPr>
              <a:t>Key Workforce Considerations</a:t>
            </a:r>
          </a:p>
          <a:p>
            <a:endParaRPr lang="en-US" sz="1600" b="1" dirty="0">
              <a:solidFill>
                <a:schemeClr val="bg1"/>
              </a:solidFill>
              <a:latin typeface="DM Serif Display" panose="020F0502020204030204" pitchFamily="2" charset="0"/>
            </a:endParaRP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DM Serif Display" panose="020F0502020204030204" pitchFamily="2" charset="0"/>
              </a:rPr>
              <a:t>[RISK_1]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DM Serif Display" panose="020F0502020204030204" pitchFamily="2" charset="0"/>
              </a:rPr>
              <a:t>[RISK_2]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DM Serif Display" panose="020F0502020204030204" pitchFamily="2" charset="0"/>
              </a:rPr>
              <a:t>[RISK_3]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200" b="1" dirty="0">
                <a:solidFill>
                  <a:schemeClr val="bg1"/>
                </a:solidFill>
                <a:latin typeface="DM Serif Display" panose="020F0502020204030204" pitchFamily="2" charset="0"/>
              </a:rPr>
              <a:t>[RISK_4]</a:t>
            </a:r>
            <a:endParaRPr lang="en-IN" sz="1200" dirty="0">
              <a:solidFill>
                <a:schemeClr val="bg1"/>
              </a:solidFill>
              <a:latin typeface="DM Serif Display" panose="020F0502020204030204" pitchFamily="2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9FEF79-9F52-4727-0996-2CA63DD3D893}"/>
              </a:ext>
            </a:extLst>
          </p:cNvPr>
          <p:cNvCxnSpPr>
            <a:cxnSpLocks/>
          </p:cNvCxnSpPr>
          <p:nvPr/>
        </p:nvCxnSpPr>
        <p:spPr>
          <a:xfrm flipV="1">
            <a:off x="0" y="1316869"/>
            <a:ext cx="9144000" cy="102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Google Shape;146;p29">
            <a:extLst>
              <a:ext uri="{FF2B5EF4-FFF2-40B4-BE49-F238E27FC236}">
                <a16:creationId xmlns:a16="http://schemas.microsoft.com/office/drawing/2014/main" id="{588C7C11-6F93-0498-210D-2A3208DEBAA8}"/>
              </a:ext>
            </a:extLst>
          </p:cNvPr>
          <p:cNvSpPr txBox="1">
            <a:spLocks/>
          </p:cNvSpPr>
          <p:nvPr/>
        </p:nvSpPr>
        <p:spPr>
          <a:xfrm>
            <a:off x="1333575" y="4790349"/>
            <a:ext cx="6604351" cy="3531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200"/>
              <a:buFont typeface="Open Sans Light"/>
              <a:buNone/>
              <a:defRPr sz="1200" b="0" i="0" u="none" strike="noStrike" cap="none" spc="0">
                <a:solidFill>
                  <a:srgbClr val="CCCCCC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marL="914400" marR="0" lvl="1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Font typeface="Open Sans Light"/>
              <a:buNone/>
              <a:defRPr sz="2800" b="0" i="0" u="none" strike="noStrike" cap="none" spc="0">
                <a:solidFill>
                  <a:srgbClr val="CCCCCC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Font typeface="Open Sans Light"/>
              <a:buNone/>
              <a:defRPr sz="2800" b="0" i="0" u="none" strike="noStrike" cap="none" spc="0">
                <a:solidFill>
                  <a:srgbClr val="CCCCCC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marL="1828800" marR="0" lvl="3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Font typeface="Open Sans Light"/>
              <a:buNone/>
              <a:defRPr sz="2800" b="0" i="0" u="none" strike="noStrike" cap="none" spc="0">
                <a:solidFill>
                  <a:srgbClr val="CCCCCC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marL="2286000" marR="0" lvl="4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Font typeface="Open Sans Light"/>
              <a:buNone/>
              <a:defRPr sz="2800" b="0" i="0" u="none" strike="noStrike" cap="none" spc="0">
                <a:solidFill>
                  <a:srgbClr val="CCCCCC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marL="2743200" marR="0" lvl="5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Font typeface="Open Sans Light"/>
              <a:buNone/>
              <a:defRPr sz="2800" b="0" i="0" u="none" strike="noStrike" cap="none" spc="0">
                <a:solidFill>
                  <a:srgbClr val="CCCCCC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marL="3200400" marR="0" lvl="6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Font typeface="Open Sans Light"/>
              <a:buNone/>
              <a:defRPr sz="2800" b="0" i="0" u="none" strike="noStrike" cap="none" spc="0">
                <a:solidFill>
                  <a:srgbClr val="CCCCCC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marL="3657600" marR="0" lvl="7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Font typeface="Open Sans Light"/>
              <a:buNone/>
              <a:defRPr sz="2800" b="0" i="0" u="none" strike="noStrike" cap="none" spc="0">
                <a:solidFill>
                  <a:srgbClr val="CCCCCC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marL="4114800" marR="0" lvl="8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2800"/>
              <a:buFont typeface="Open Sans Light"/>
              <a:buNone/>
              <a:defRPr sz="2800" b="0" i="0" u="none" strike="noStrike" cap="none" spc="0">
                <a:solidFill>
                  <a:srgbClr val="CCCCCC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marL="0" indent="0"/>
            <a:r>
              <a:rPr lang="en-US" sz="900" dirty="0">
                <a:solidFill>
                  <a:schemeClr val="bg1"/>
                </a:solidFill>
              </a:rPr>
              <a:t>Insurance considerations derived from company context and subject to advisor confirmation.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2"/>
          <p:cNvSpPr txBox="1">
            <a:spLocks noGrp="1"/>
          </p:cNvSpPr>
          <p:nvPr>
            <p:ph type="ctrTitle"/>
          </p:nvPr>
        </p:nvSpPr>
        <p:spPr>
          <a:xfrm>
            <a:off x="343588" y="276533"/>
            <a:ext cx="3332026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b="1" dirty="0"/>
              <a:t>Recommended for Consideration: </a:t>
            </a:r>
            <a:br>
              <a:rPr lang="en-IN" b="1" dirty="0"/>
            </a:br>
            <a:r>
              <a:rPr lang="en-IN" dirty="0"/>
              <a:t>[RECOMMENDED_POLICY]</a:t>
            </a:r>
            <a:endParaRPr dirty="0"/>
          </a:p>
        </p:txBody>
      </p:sp>
      <p:sp>
        <p:nvSpPr>
          <p:cNvPr id="356" name="Google Shape;356;p42"/>
          <p:cNvSpPr/>
          <p:nvPr/>
        </p:nvSpPr>
        <p:spPr>
          <a:xfrm>
            <a:off x="384072" y="1261373"/>
            <a:ext cx="2454843" cy="61664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42"/>
          <p:cNvSpPr txBox="1"/>
          <p:nvPr/>
        </p:nvSpPr>
        <p:spPr>
          <a:xfrm>
            <a:off x="395843" y="1286990"/>
            <a:ext cx="1902851" cy="50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noAutofit/>
          </a:bodyPr>
          <a:lstStyle/>
          <a:p>
            <a:pPr lvl="0"/>
            <a:r>
              <a:rPr lang="en-US" dirty="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Why this policy fits </a:t>
            </a:r>
            <a:r>
              <a:rPr lang="en-US" sz="1200" dirty="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[COMPANY_NAME]</a:t>
            </a:r>
            <a:endParaRPr lang="en-US" sz="1000" dirty="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74" name="Google Shape;374;p42"/>
          <p:cNvSpPr txBox="1"/>
          <p:nvPr/>
        </p:nvSpPr>
        <p:spPr>
          <a:xfrm>
            <a:off x="4424570" y="807564"/>
            <a:ext cx="11112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Sum Insured</a:t>
            </a:r>
            <a:endParaRPr sz="900" dirty="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75" name="Google Shape;375;p42"/>
          <p:cNvSpPr txBox="1"/>
          <p:nvPr/>
        </p:nvSpPr>
        <p:spPr>
          <a:xfrm>
            <a:off x="4424570" y="1169880"/>
            <a:ext cx="11112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Premium</a:t>
            </a:r>
            <a:endParaRPr sz="900" dirty="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76" name="Google Shape;376;p42"/>
          <p:cNvSpPr txBox="1"/>
          <p:nvPr/>
        </p:nvSpPr>
        <p:spPr>
          <a:xfrm>
            <a:off x="4424570" y="1591367"/>
            <a:ext cx="111120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Policy Term</a:t>
            </a:r>
            <a:endParaRPr sz="900" dirty="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A96964-A401-D4E8-0668-747DF27EEB82}"/>
              </a:ext>
            </a:extLst>
          </p:cNvPr>
          <p:cNvSpPr txBox="1"/>
          <p:nvPr/>
        </p:nvSpPr>
        <p:spPr>
          <a:xfrm>
            <a:off x="300742" y="1929366"/>
            <a:ext cx="3623099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[SELLING_POINT_1]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[SELLING_POINT_2]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[SELLING_POINT_3]</a:t>
            </a:r>
          </a:p>
        </p:txBody>
      </p:sp>
      <p:sp>
        <p:nvSpPr>
          <p:cNvPr id="7" name="Google Shape;370;p42">
            <a:extLst>
              <a:ext uri="{FF2B5EF4-FFF2-40B4-BE49-F238E27FC236}">
                <a16:creationId xmlns:a16="http://schemas.microsoft.com/office/drawing/2014/main" id="{82A758F7-5060-122E-6587-948DA426C115}"/>
              </a:ext>
            </a:extLst>
          </p:cNvPr>
          <p:cNvSpPr txBox="1"/>
          <p:nvPr/>
        </p:nvSpPr>
        <p:spPr>
          <a:xfrm>
            <a:off x="4688995" y="460673"/>
            <a:ext cx="2084687" cy="397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noAutofit/>
          </a:bodyPr>
          <a:lstStyle/>
          <a:p>
            <a:pPr lvl="0" algn="ctr"/>
            <a:r>
              <a:rPr lang="en-US" u="sng" dirty="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Policy Snapshot</a:t>
            </a:r>
            <a:endParaRPr lang="en-US" sz="1000" u="sng" dirty="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4793108-101B-1686-204C-34675688CE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9187284"/>
              </p:ext>
            </p:extLst>
          </p:nvPr>
        </p:nvGraphicFramePr>
        <p:xfrm>
          <a:off x="5731339" y="873877"/>
          <a:ext cx="2483393" cy="222504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483393">
                  <a:extLst>
                    <a:ext uri="{9D8B030D-6E8A-4147-A177-3AD203B41FA5}">
                      <a16:colId xmlns:a16="http://schemas.microsoft.com/office/drawing/2014/main" val="18688253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050" b="0" dirty="0">
                          <a:latin typeface="DM Serif Display" pitchFamily="2" charset="0"/>
                        </a:rPr>
                        <a:t>[SUM_INSURED]</a:t>
                      </a:r>
                    </a:p>
                  </a:txBody>
                  <a:tcPr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9158710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DM Serif Display" pitchFamily="2" charset="0"/>
                        </a:rPr>
                        <a:t>[PREMIUM]</a:t>
                      </a:r>
                    </a:p>
                  </a:txBody>
                  <a:tcPr>
                    <a:lnT w="12700" cmpd="sng">
                      <a:noFill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9014448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DM Serif Display" pitchFamily="2" charset="0"/>
                        </a:rPr>
                        <a:t>[POLICY_TERM]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34254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DM Serif Display" pitchFamily="2" charset="0"/>
                        </a:rPr>
                        <a:t>[HOSPITALISATION]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9695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DM Serif Display" pitchFamily="2" charset="0"/>
                        </a:rPr>
                        <a:t>[WAITING_PERIOD]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46697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050" dirty="0">
                          <a:latin typeface="DM Serif Display" pitchFamily="2" charset="0"/>
                        </a:rPr>
                        <a:t>[OTHER_KEY_BENEFIT]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941346"/>
                  </a:ext>
                </a:extLst>
              </a:tr>
            </a:tbl>
          </a:graphicData>
        </a:graphic>
      </p:graphicFrame>
      <p:sp>
        <p:nvSpPr>
          <p:cNvPr id="19" name="Google Shape;374;p42">
            <a:extLst>
              <a:ext uri="{FF2B5EF4-FFF2-40B4-BE49-F238E27FC236}">
                <a16:creationId xmlns:a16="http://schemas.microsoft.com/office/drawing/2014/main" id="{858876B2-8C21-327D-ADF3-949DAC37100E}"/>
              </a:ext>
            </a:extLst>
          </p:cNvPr>
          <p:cNvSpPr txBox="1"/>
          <p:nvPr/>
        </p:nvSpPr>
        <p:spPr>
          <a:xfrm>
            <a:off x="4342123" y="1953683"/>
            <a:ext cx="1197831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Hospitalisation</a:t>
            </a:r>
            <a:endParaRPr sz="900" dirty="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1" name="Google Shape;375;p42">
            <a:extLst>
              <a:ext uri="{FF2B5EF4-FFF2-40B4-BE49-F238E27FC236}">
                <a16:creationId xmlns:a16="http://schemas.microsoft.com/office/drawing/2014/main" id="{33A5B928-A110-EBC8-A648-BFA2113A7C7F}"/>
              </a:ext>
            </a:extLst>
          </p:cNvPr>
          <p:cNvSpPr txBox="1"/>
          <p:nvPr/>
        </p:nvSpPr>
        <p:spPr>
          <a:xfrm>
            <a:off x="4252913" y="2315999"/>
            <a:ext cx="1287041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Waiting Period</a:t>
            </a:r>
            <a:endParaRPr sz="900" dirty="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3" name="Google Shape;376;p42">
            <a:extLst>
              <a:ext uri="{FF2B5EF4-FFF2-40B4-BE49-F238E27FC236}">
                <a16:creationId xmlns:a16="http://schemas.microsoft.com/office/drawing/2014/main" id="{8A2091D4-20EC-6649-55E6-BD9E68741C6E}"/>
              </a:ext>
            </a:extLst>
          </p:cNvPr>
          <p:cNvSpPr txBox="1"/>
          <p:nvPr/>
        </p:nvSpPr>
        <p:spPr>
          <a:xfrm>
            <a:off x="3985284" y="2737486"/>
            <a:ext cx="1554670" cy="48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Other Key Benefit</a:t>
            </a:r>
            <a:endParaRPr sz="900" dirty="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7" name="Google Shape;370;p42">
            <a:extLst>
              <a:ext uri="{FF2B5EF4-FFF2-40B4-BE49-F238E27FC236}">
                <a16:creationId xmlns:a16="http://schemas.microsoft.com/office/drawing/2014/main" id="{EE5C4CB3-77AB-8D11-B881-103245DB7798}"/>
              </a:ext>
            </a:extLst>
          </p:cNvPr>
          <p:cNvSpPr txBox="1"/>
          <p:nvPr/>
        </p:nvSpPr>
        <p:spPr>
          <a:xfrm>
            <a:off x="304926" y="3527786"/>
            <a:ext cx="2084687" cy="397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350" rIns="0" bIns="0" anchor="t" anchorCtr="0">
            <a:noAutofit/>
          </a:bodyPr>
          <a:lstStyle/>
          <a:p>
            <a:pPr lvl="0" algn="ctr"/>
            <a:r>
              <a:rPr lang="en-US" u="sng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Workforce Relevance</a:t>
            </a:r>
            <a:endParaRPr lang="en-US" sz="1000" u="sng" dirty="0">
              <a:solidFill>
                <a:schemeClr val="dk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9441F3-A606-828A-2637-BEC88EB92F2A}"/>
              </a:ext>
            </a:extLst>
          </p:cNvPr>
          <p:cNvSpPr txBox="1"/>
          <p:nvPr/>
        </p:nvSpPr>
        <p:spPr>
          <a:xfrm>
            <a:off x="198052" y="3768390"/>
            <a:ext cx="8559372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1050" dirty="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[EMPLOYEE_GROUP_1] → [RELEVANCE]</a:t>
            </a:r>
          </a:p>
          <a:p>
            <a:pPr lvl="0"/>
            <a:r>
              <a:rPr lang="en-US" sz="1050" dirty="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[EMPLOYEE_GROUP_2] → [RELEVANCE]</a:t>
            </a:r>
          </a:p>
          <a:p>
            <a:pPr lvl="0"/>
            <a:r>
              <a:rPr lang="en-US" sz="1050" dirty="0">
                <a:solidFill>
                  <a:schemeClr val="dk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[EMPLOYEE_GROUP_3] → [RELEVANCE]</a:t>
            </a:r>
          </a:p>
        </p:txBody>
      </p:sp>
      <p:sp>
        <p:nvSpPr>
          <p:cNvPr id="31" name="Google Shape;490;p47">
            <a:extLst>
              <a:ext uri="{FF2B5EF4-FFF2-40B4-BE49-F238E27FC236}">
                <a16:creationId xmlns:a16="http://schemas.microsoft.com/office/drawing/2014/main" id="{4DBBA67A-D721-6232-7F03-CC8980958729}"/>
              </a:ext>
            </a:extLst>
          </p:cNvPr>
          <p:cNvSpPr/>
          <p:nvPr/>
        </p:nvSpPr>
        <p:spPr>
          <a:xfrm>
            <a:off x="304926" y="237892"/>
            <a:ext cx="8119074" cy="3289893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7621D8-BC55-658C-F710-6C9C98443671}"/>
              </a:ext>
            </a:extLst>
          </p:cNvPr>
          <p:cNvSpPr txBox="1"/>
          <p:nvPr/>
        </p:nvSpPr>
        <p:spPr>
          <a:xfrm>
            <a:off x="5352586" y="4645430"/>
            <a:ext cx="362309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/>
            <a:r>
              <a:rPr lang="en-US" sz="800" dirty="0">
                <a:solidFill>
                  <a:schemeClr val="tx1">
                    <a:lumMod val="60000"/>
                    <a:lumOff val="40000"/>
                  </a:schemeClr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INSUREAI recommendation based on documented policy evidence and identified client needs. Final selection remains with the client and advisor.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50"/>
          <p:cNvSpPr/>
          <p:nvPr/>
        </p:nvSpPr>
        <p:spPr>
          <a:xfrm>
            <a:off x="1582900" y="3873225"/>
            <a:ext cx="1327800" cy="1341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7" name="Google Shape;587;p50"/>
          <p:cNvPicPr preferRelativeResize="0"/>
          <p:nvPr/>
        </p:nvPicPr>
        <p:blipFill>
          <a:blip r:embed="rId3">
            <a:alphaModFix/>
          </a:blip>
          <a:srcRect l="22507" r="22507"/>
          <a:stretch/>
        </p:blipFill>
        <p:spPr>
          <a:xfrm>
            <a:off x="267629" y="1346350"/>
            <a:ext cx="8579005" cy="3258201"/>
          </a:xfrm>
          <a:prstGeom prst="rect">
            <a:avLst/>
          </a:prstGeom>
          <a:blipFill>
            <a:blip r:embed="rId3"/>
            <a:stretch>
              <a:fillRect/>
            </a:stretch>
          </a:blipFill>
          <a:ln>
            <a:noFill/>
          </a:ln>
        </p:spPr>
      </p:pic>
      <p:sp>
        <p:nvSpPr>
          <p:cNvPr id="588" name="Google Shape;588;p50"/>
          <p:cNvSpPr txBox="1"/>
          <p:nvPr/>
        </p:nvSpPr>
        <p:spPr>
          <a:xfrm>
            <a:off x="438747" y="1898326"/>
            <a:ext cx="1917877" cy="14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Key documented benefits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• [BENEFIT]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• [BENEFIT]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Client consideration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[WHY_NOT_RECOMMENDED]</a:t>
            </a:r>
            <a:endParaRPr sz="1000" dirty="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589" name="Google Shape;589;p50"/>
          <p:cNvSpPr txBox="1"/>
          <p:nvPr/>
        </p:nvSpPr>
        <p:spPr>
          <a:xfrm>
            <a:off x="354618" y="1416825"/>
            <a:ext cx="1228282" cy="4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[POLICY_2]</a:t>
            </a:r>
            <a:endParaRPr dirty="0"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590" name="Google Shape;590;p50"/>
          <p:cNvSpPr txBox="1">
            <a:spLocks noGrp="1"/>
          </p:cNvSpPr>
          <p:nvPr>
            <p:ph type="ctrTitle"/>
          </p:nvPr>
        </p:nvSpPr>
        <p:spPr>
          <a:xfrm>
            <a:off x="723600" y="470625"/>
            <a:ext cx="2101376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IN" dirty="0"/>
              <a:t>Other Policies Considered</a:t>
            </a:r>
            <a:endParaRPr dirty="0"/>
          </a:p>
        </p:txBody>
      </p:sp>
      <p:sp>
        <p:nvSpPr>
          <p:cNvPr id="17" name="Google Shape;588;p50">
            <a:extLst>
              <a:ext uri="{FF2B5EF4-FFF2-40B4-BE49-F238E27FC236}">
                <a16:creationId xmlns:a16="http://schemas.microsoft.com/office/drawing/2014/main" id="{FD4000FC-744F-C6E5-99C4-150826198F47}"/>
              </a:ext>
            </a:extLst>
          </p:cNvPr>
          <p:cNvSpPr txBox="1"/>
          <p:nvPr/>
        </p:nvSpPr>
        <p:spPr>
          <a:xfrm>
            <a:off x="3750933" y="1898325"/>
            <a:ext cx="1917877" cy="14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Key documented benefits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• [BENEFIT]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• [BENEFIT]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Client consideration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[WHY_NOT_RECOMMENDED]</a:t>
            </a:r>
            <a:endParaRPr sz="1000" dirty="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19" name="Google Shape;589;p50">
            <a:extLst>
              <a:ext uri="{FF2B5EF4-FFF2-40B4-BE49-F238E27FC236}">
                <a16:creationId xmlns:a16="http://schemas.microsoft.com/office/drawing/2014/main" id="{954C4E15-6D9F-7F19-6A5D-59CF996DDD15}"/>
              </a:ext>
            </a:extLst>
          </p:cNvPr>
          <p:cNvSpPr txBox="1"/>
          <p:nvPr/>
        </p:nvSpPr>
        <p:spPr>
          <a:xfrm>
            <a:off x="3666804" y="1416824"/>
            <a:ext cx="1228282" cy="4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[POLICY_3]</a:t>
            </a:r>
            <a:endParaRPr dirty="0"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1" name="Google Shape;588;p50">
            <a:extLst>
              <a:ext uri="{FF2B5EF4-FFF2-40B4-BE49-F238E27FC236}">
                <a16:creationId xmlns:a16="http://schemas.microsoft.com/office/drawing/2014/main" id="{16525ED7-CBAF-B778-ABAE-977528979821}"/>
              </a:ext>
            </a:extLst>
          </p:cNvPr>
          <p:cNvSpPr txBox="1"/>
          <p:nvPr/>
        </p:nvSpPr>
        <p:spPr>
          <a:xfrm>
            <a:off x="6594767" y="1898325"/>
            <a:ext cx="1917877" cy="149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Key documented benefits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• [BENEFIT]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• [BENEFIT]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Client consideration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US" sz="1000" dirty="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dirty="0">
                <a:solidFill>
                  <a:schemeClr val="lt1"/>
                </a:solidFill>
                <a:latin typeface="Open Sans Light"/>
                <a:ea typeface="Open Sans Light"/>
                <a:cs typeface="Open Sans Light"/>
                <a:sym typeface="Open Sans Light"/>
              </a:rPr>
              <a:t>[WHY_NOT_RECOMMENDED]</a:t>
            </a:r>
            <a:endParaRPr sz="1000" dirty="0">
              <a:solidFill>
                <a:schemeClr val="lt1"/>
              </a:solidFill>
              <a:latin typeface="Open Sans Light"/>
              <a:ea typeface="Open Sans Light"/>
              <a:cs typeface="Open Sans Light"/>
              <a:sym typeface="Open Sans Light"/>
            </a:endParaRPr>
          </a:p>
        </p:txBody>
      </p:sp>
      <p:sp>
        <p:nvSpPr>
          <p:cNvPr id="23" name="Google Shape;589;p50">
            <a:extLst>
              <a:ext uri="{FF2B5EF4-FFF2-40B4-BE49-F238E27FC236}">
                <a16:creationId xmlns:a16="http://schemas.microsoft.com/office/drawing/2014/main" id="{C565AD2A-A0EB-62DA-C272-BA787761DB73}"/>
              </a:ext>
            </a:extLst>
          </p:cNvPr>
          <p:cNvSpPr txBox="1"/>
          <p:nvPr/>
        </p:nvSpPr>
        <p:spPr>
          <a:xfrm>
            <a:off x="6510638" y="1416824"/>
            <a:ext cx="1228282" cy="4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[</a:t>
            </a:r>
            <a:r>
              <a:rPr lang="en-IN">
                <a:solidFill>
                  <a:schemeClr val="lt1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POLICY_4]</a:t>
            </a:r>
            <a:endParaRPr dirty="0">
              <a:solidFill>
                <a:schemeClr val="lt1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7"/>
          <p:cNvPicPr preferRelativeResize="0"/>
          <p:nvPr/>
        </p:nvPicPr>
        <p:blipFill rotWithShape="1">
          <a:blip r:embed="rId3">
            <a:alphaModFix/>
          </a:blip>
          <a:srcRect t="146" b="47599"/>
          <a:stretch/>
        </p:blipFill>
        <p:spPr>
          <a:xfrm flipH="1">
            <a:off x="-7500" y="0"/>
            <a:ext cx="913925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7"/>
          <p:cNvSpPr txBox="1">
            <a:spLocks noGrp="1"/>
          </p:cNvSpPr>
          <p:nvPr>
            <p:ph type="ctrTitle"/>
          </p:nvPr>
        </p:nvSpPr>
        <p:spPr>
          <a:xfrm>
            <a:off x="104076" y="229993"/>
            <a:ext cx="3344847" cy="507043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Comparing the Options</a:t>
            </a:r>
            <a:endParaRPr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6C3EBCA-3D28-77E3-AE9F-07F7094F92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338463"/>
              </p:ext>
            </p:extLst>
          </p:nvPr>
        </p:nvGraphicFramePr>
        <p:xfrm>
          <a:off x="301275" y="794341"/>
          <a:ext cx="8521700" cy="1477315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704340">
                  <a:extLst>
                    <a:ext uri="{9D8B030D-6E8A-4147-A177-3AD203B41FA5}">
                      <a16:colId xmlns:a16="http://schemas.microsoft.com/office/drawing/2014/main" val="452476306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1321282391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2232574449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1861796921"/>
                    </a:ext>
                  </a:extLst>
                </a:gridCol>
                <a:gridCol w="1704340">
                  <a:extLst>
                    <a:ext uri="{9D8B030D-6E8A-4147-A177-3AD203B41FA5}">
                      <a16:colId xmlns:a16="http://schemas.microsoft.com/office/drawing/2014/main" val="1950253642"/>
                    </a:ext>
                  </a:extLst>
                </a:gridCol>
              </a:tblGrid>
              <a:tr h="1912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DM Serif Display" pitchFamily="2" charset="0"/>
                        </a:rPr>
                        <a:t>Client Consideration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Policy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DM Serif Display" pitchFamily="2" charset="0"/>
                        </a:rPr>
                        <a:t>Policy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Policy 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Policy 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4758238"/>
                  </a:ext>
                </a:extLst>
              </a:tr>
              <a:tr h="249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[NEED_1]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DM Serif Display" pitchFamily="2" charset="0"/>
                        </a:rPr>
                        <a:t>[...]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[...]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[...]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[...]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711130"/>
                  </a:ext>
                </a:extLst>
              </a:tr>
              <a:tr h="249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[NEED_2]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DM Serif Display" pitchFamily="2" charset="0"/>
                        </a:rPr>
                        <a:t>[...]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[...]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[...]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[...]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4019988"/>
                  </a:ext>
                </a:extLst>
              </a:tr>
              <a:tr h="249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[NEED_3]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DM Serif Display" pitchFamily="2" charset="0"/>
                        </a:rPr>
                        <a:t>[...]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DM Serif Display" pitchFamily="2" charset="0"/>
                        </a:rPr>
                        <a:t>[...]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[...]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[...]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0295680"/>
                  </a:ext>
                </a:extLst>
              </a:tr>
              <a:tr h="249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[NEED_4]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[...]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[...]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[...]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[...]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4720104"/>
                  </a:ext>
                </a:extLst>
              </a:tr>
              <a:tr h="2497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Key limitation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[...]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[...]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DM Serif Display" pitchFamily="2" charset="0"/>
                        </a:rPr>
                        <a:t>[...]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DM Serif Display" pitchFamily="2" charset="0"/>
                        </a:rPr>
                        <a:t>[...]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094777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4">
          <a:extLst>
            <a:ext uri="{FF2B5EF4-FFF2-40B4-BE49-F238E27FC236}">
              <a16:creationId xmlns:a16="http://schemas.microsoft.com/office/drawing/2014/main" id="{84B6721E-BD8B-8CA6-325E-3024D5C9DA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" name="Google Shape;245;p37">
            <a:extLst>
              <a:ext uri="{FF2B5EF4-FFF2-40B4-BE49-F238E27FC236}">
                <a16:creationId xmlns:a16="http://schemas.microsoft.com/office/drawing/2014/main" id="{05E01358-41A3-FE08-E89B-79F5A304769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46" b="47599"/>
          <a:stretch/>
        </p:blipFill>
        <p:spPr>
          <a:xfrm flipH="1">
            <a:off x="-7500" y="0"/>
            <a:ext cx="9139250" cy="3183724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37">
            <a:extLst>
              <a:ext uri="{FF2B5EF4-FFF2-40B4-BE49-F238E27FC236}">
                <a16:creationId xmlns:a16="http://schemas.microsoft.com/office/drawing/2014/main" id="{DC970430-97DB-E4C1-1E14-FFFA95E4B346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04076" y="229993"/>
            <a:ext cx="3344847" cy="507043"/>
          </a:xfrm>
          <a:prstGeom prst="rect">
            <a:avLst/>
          </a:prstGeom>
          <a:solidFill>
            <a:schemeClr val="bg1"/>
          </a:solidFill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dirty="0"/>
              <a:t>Our Recommendation</a:t>
            </a:r>
            <a:endParaRPr dirty="0"/>
          </a:p>
        </p:txBody>
      </p:sp>
      <p:sp>
        <p:nvSpPr>
          <p:cNvPr id="247" name="Google Shape;247;p37">
            <a:extLst>
              <a:ext uri="{FF2B5EF4-FFF2-40B4-BE49-F238E27FC236}">
                <a16:creationId xmlns:a16="http://schemas.microsoft.com/office/drawing/2014/main" id="{EB3E0C9A-8F77-C849-6417-87DF1FCF9D01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729462" y="4407985"/>
            <a:ext cx="5161777" cy="52039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SzPts val="1100"/>
            </a:pPr>
            <a:r>
              <a:rPr lang="en-IN" dirty="0"/>
              <a:t>Recommendation is advisory. Final policy selection remains with the client following review of policy terms, exclusions, pricing and insurer quotation.</a:t>
            </a:r>
            <a:endParaRPr dirty="0"/>
          </a:p>
        </p:txBody>
      </p:sp>
      <p:sp>
        <p:nvSpPr>
          <p:cNvPr id="248" name="Google Shape;248;p37">
            <a:extLst>
              <a:ext uri="{FF2B5EF4-FFF2-40B4-BE49-F238E27FC236}">
                <a16:creationId xmlns:a16="http://schemas.microsoft.com/office/drawing/2014/main" id="{ABBE7EA6-3F75-4AB0-277D-02379773A325}"/>
              </a:ext>
            </a:extLst>
          </p:cNvPr>
          <p:cNvSpPr/>
          <p:nvPr/>
        </p:nvSpPr>
        <p:spPr>
          <a:xfrm>
            <a:off x="393255" y="1040780"/>
            <a:ext cx="8200617" cy="1880840"/>
          </a:xfrm>
          <a:prstGeom prst="rect">
            <a:avLst/>
          </a:prstGeom>
          <a:ln>
            <a:headEnd type="none" w="sm" len="sm"/>
            <a:tailEnd type="none" w="sm" len="sm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37">
            <a:extLst>
              <a:ext uri="{FF2B5EF4-FFF2-40B4-BE49-F238E27FC236}">
                <a16:creationId xmlns:a16="http://schemas.microsoft.com/office/drawing/2014/main" id="{6DD3A555-5DC0-5595-1C24-40E430AC6629}"/>
              </a:ext>
            </a:extLst>
          </p:cNvPr>
          <p:cNvSpPr txBox="1">
            <a:spLocks noGrp="1"/>
          </p:cNvSpPr>
          <p:nvPr>
            <p:ph type="ctrTitle" idx="3"/>
          </p:nvPr>
        </p:nvSpPr>
        <p:spPr>
          <a:xfrm>
            <a:off x="2222809" y="1082640"/>
            <a:ext cx="4490482" cy="46585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dirty="0"/>
              <a:t>Why [RECOMMENDED_POLICY] merits consideration</a:t>
            </a:r>
            <a:endParaRPr sz="1400" dirty="0"/>
          </a:p>
        </p:txBody>
      </p:sp>
      <p:sp>
        <p:nvSpPr>
          <p:cNvPr id="250" name="Google Shape;250;p37">
            <a:extLst>
              <a:ext uri="{FF2B5EF4-FFF2-40B4-BE49-F238E27FC236}">
                <a16:creationId xmlns:a16="http://schemas.microsoft.com/office/drawing/2014/main" id="{107AFDA0-4CCB-B83D-648D-3F359FFDF443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990017" y="1461864"/>
            <a:ext cx="7144215" cy="13108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050" dirty="0"/>
              <a:t>[FINAL_RATIONALE]</a:t>
            </a:r>
            <a:endParaRPr sz="1050" dirty="0"/>
          </a:p>
        </p:txBody>
      </p:sp>
    </p:spTree>
    <p:extLst>
      <p:ext uri="{BB962C8B-B14F-4D97-AF65-F5344CB8AC3E}">
        <p14:creationId xmlns:p14="http://schemas.microsoft.com/office/powerpoint/2010/main" val="1547671214"/>
      </p:ext>
    </p:extLst>
  </p:cSld>
  <p:clrMapOvr>
    <a:masterClrMapping/>
  </p:clrMapOvr>
</p:sld>
</file>

<file path=ppt/theme/theme1.xml><?xml version="1.0" encoding="utf-8"?>
<a:theme xmlns:a="http://schemas.openxmlformats.org/drawingml/2006/main" name="Invesment Business Plan by Slidego">
  <a:themeElements>
    <a:clrScheme name="Simple Light">
      <a:dk1>
        <a:srgbClr val="254C6D"/>
      </a:dk1>
      <a:lt1>
        <a:srgbClr val="F3F3F3"/>
      </a:lt1>
      <a:dk2>
        <a:srgbClr val="254C6D"/>
      </a:dk2>
      <a:lt2>
        <a:srgbClr val="EEEEEE"/>
      </a:lt2>
      <a:accent1>
        <a:srgbClr val="254C6D"/>
      </a:accent1>
      <a:accent2>
        <a:srgbClr val="254C6D"/>
      </a:accent2>
      <a:accent3>
        <a:srgbClr val="254C6D"/>
      </a:accent3>
      <a:accent4>
        <a:srgbClr val="254C6D"/>
      </a:accent4>
      <a:accent5>
        <a:srgbClr val="254C6D"/>
      </a:accent5>
      <a:accent6>
        <a:srgbClr val="254C6D"/>
      </a:accent6>
      <a:hlink>
        <a:srgbClr val="254C6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378</Words>
  <Application>Microsoft Office PowerPoint</Application>
  <PresentationFormat>On-screen Show (16:9)</PresentationFormat>
  <Paragraphs>101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DM Serif Display</vt:lpstr>
      <vt:lpstr>Open Sans Light</vt:lpstr>
      <vt:lpstr>Invesment Business Plan by Slidego</vt:lpstr>
      <vt:lpstr>[COMPANY_NAME]</vt:lpstr>
      <vt:lpstr>Recommended for Consideration:  [RECOMMENDED_POLICY]</vt:lpstr>
      <vt:lpstr>Other Policies Considered</vt:lpstr>
      <vt:lpstr>Comparing the Options</vt:lpstr>
      <vt:lpstr>Our Recommendation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Surbhi</dc:creator>
  <cp:lastModifiedBy>Surbhi Shirvatkar</cp:lastModifiedBy>
  <cp:revision>19</cp:revision>
  <dcterms:modified xsi:type="dcterms:W3CDTF">2026-09-27T09:42:07Z</dcterms:modified>
</cp:coreProperties>
</file>