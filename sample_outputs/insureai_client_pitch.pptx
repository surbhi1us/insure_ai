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7"/>
  </p:notesMasterIdLst>
  <p:sldIdLst>
    <p:sldId id="256" r:id="rId2"/>
    <p:sldId id="269" r:id="rId3"/>
    <p:sldId id="277" r:id="rId4"/>
    <p:sldId id="264" r:id="rId5"/>
    <p:sldId id="278" r:id="rId6"/>
  </p:sldIdLst>
  <p:sldSz cx="9144000" cy="5143500" type="screen16x9"/>
  <p:notesSz cx="6858000" cy="9144000"/>
  <p:embeddedFontLst>
    <p:embeddedFont>
      <p:font typeface="DM Serif Display" pitchFamily="2" charset="0"/>
      <p:regular r:id="rId8"/>
      <p:italic r:id="rId9"/>
    </p:embeddedFont>
    <p:embeddedFont>
      <p:font typeface="Open Sans Light" panose="020B0306030504020204" pitchFamily="3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812F390-50CE-4383-A20C-33A3B3660635}">
  <a:tblStyle styleId="{4812F390-50CE-4383-A20C-33A3B366063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5f24f68604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5f24f68604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5465e7bc0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5465e7bc0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54713f6f7e_0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54713f6f7e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C56C9CD6-01BA-A945-E840-24414EC6187D}"/>
            </a:ext>
          </a:extLst>
        </p:cNvPr>
        <p:cNvGrpSpPr/>
        <p:nvPr/>
      </p:nvGrpSpPr>
      <p:grpSpPr>
        <a:xfrm>
          <a:off x="0" y="0"/>
          <a:ext cx="0" cy="0"/>
          <a:chOff x="0" y="0"/>
          <a:chExt cx="0" cy="0"/>
        </a:xfrm>
      </p:grpSpPr>
      <p:sp>
        <p:nvSpPr>
          <p:cNvPr id="242" name="Google Shape;242;g54713f6f7e_0_543:notes">
            <a:extLst>
              <a:ext uri="{FF2B5EF4-FFF2-40B4-BE49-F238E27FC236}">
                <a16:creationId xmlns:a16="http://schemas.microsoft.com/office/drawing/2014/main" id="{F15A9C8B-E9DC-2CD8-3358-EC8B5FEBB9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54713f6f7e_0_543:notes">
            <a:extLst>
              <a:ext uri="{FF2B5EF4-FFF2-40B4-BE49-F238E27FC236}">
                <a16:creationId xmlns:a16="http://schemas.microsoft.com/office/drawing/2014/main" id="{56F216D4-3257-6DDA-6FC3-D08D25E69F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085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449550" y="1472625"/>
            <a:ext cx="4245000" cy="17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1pPr>
            <a:lvl2pPr lvl="1"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2pPr>
            <a:lvl3pPr lvl="2"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3pPr>
            <a:lvl4pPr lvl="3"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4pPr>
            <a:lvl5pPr lvl="4"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5pPr>
            <a:lvl6pPr lvl="5"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6pPr>
            <a:lvl7pPr lvl="6"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7pPr>
            <a:lvl8pPr lvl="7"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8pPr>
            <a:lvl9pPr lvl="8" algn="ctr" rtl="0">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9pPr>
          </a:lstStyle>
          <a:p>
            <a:endParaRPr/>
          </a:p>
        </p:txBody>
      </p:sp>
      <p:sp>
        <p:nvSpPr>
          <p:cNvPr id="10" name="Google Shape;10;p2"/>
          <p:cNvSpPr txBox="1">
            <a:spLocks noGrp="1"/>
          </p:cNvSpPr>
          <p:nvPr>
            <p:ph type="subTitle" idx="1"/>
          </p:nvPr>
        </p:nvSpPr>
        <p:spPr>
          <a:xfrm>
            <a:off x="2070875" y="2901600"/>
            <a:ext cx="5002200" cy="717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CCCCCC"/>
              </a:buClr>
              <a:buSzPts val="1200"/>
              <a:buNone/>
              <a:defRPr>
                <a:solidFill>
                  <a:srgbClr val="CCCCCC"/>
                </a:solidFill>
              </a:defRPr>
            </a:lvl1pPr>
            <a:lvl2pPr lvl="1" algn="ctr" rtl="0">
              <a:lnSpc>
                <a:spcPct val="100000"/>
              </a:lnSpc>
              <a:spcBef>
                <a:spcPts val="0"/>
              </a:spcBef>
              <a:spcAft>
                <a:spcPts val="0"/>
              </a:spcAft>
              <a:buClr>
                <a:srgbClr val="CCCCCC"/>
              </a:buClr>
              <a:buSzPts val="2800"/>
              <a:buNone/>
              <a:defRPr sz="2800">
                <a:solidFill>
                  <a:srgbClr val="CCCCCC"/>
                </a:solidFill>
              </a:defRPr>
            </a:lvl2pPr>
            <a:lvl3pPr lvl="2" algn="ctr" rtl="0">
              <a:lnSpc>
                <a:spcPct val="100000"/>
              </a:lnSpc>
              <a:spcBef>
                <a:spcPts val="0"/>
              </a:spcBef>
              <a:spcAft>
                <a:spcPts val="0"/>
              </a:spcAft>
              <a:buClr>
                <a:srgbClr val="CCCCCC"/>
              </a:buClr>
              <a:buSzPts val="2800"/>
              <a:buNone/>
              <a:defRPr sz="2800">
                <a:solidFill>
                  <a:srgbClr val="CCCCCC"/>
                </a:solidFill>
              </a:defRPr>
            </a:lvl3pPr>
            <a:lvl4pPr lvl="3" algn="ctr" rtl="0">
              <a:lnSpc>
                <a:spcPct val="100000"/>
              </a:lnSpc>
              <a:spcBef>
                <a:spcPts val="0"/>
              </a:spcBef>
              <a:spcAft>
                <a:spcPts val="0"/>
              </a:spcAft>
              <a:buClr>
                <a:srgbClr val="CCCCCC"/>
              </a:buClr>
              <a:buSzPts val="2800"/>
              <a:buNone/>
              <a:defRPr sz="2800">
                <a:solidFill>
                  <a:srgbClr val="CCCCCC"/>
                </a:solidFill>
              </a:defRPr>
            </a:lvl4pPr>
            <a:lvl5pPr lvl="4" algn="ctr" rtl="0">
              <a:lnSpc>
                <a:spcPct val="100000"/>
              </a:lnSpc>
              <a:spcBef>
                <a:spcPts val="0"/>
              </a:spcBef>
              <a:spcAft>
                <a:spcPts val="0"/>
              </a:spcAft>
              <a:buClr>
                <a:srgbClr val="CCCCCC"/>
              </a:buClr>
              <a:buSzPts val="2800"/>
              <a:buNone/>
              <a:defRPr sz="2800">
                <a:solidFill>
                  <a:srgbClr val="CCCCCC"/>
                </a:solidFill>
              </a:defRPr>
            </a:lvl5pPr>
            <a:lvl6pPr lvl="5" algn="ctr" rtl="0">
              <a:lnSpc>
                <a:spcPct val="100000"/>
              </a:lnSpc>
              <a:spcBef>
                <a:spcPts val="0"/>
              </a:spcBef>
              <a:spcAft>
                <a:spcPts val="0"/>
              </a:spcAft>
              <a:buClr>
                <a:srgbClr val="CCCCCC"/>
              </a:buClr>
              <a:buSzPts val="2800"/>
              <a:buNone/>
              <a:defRPr sz="2800">
                <a:solidFill>
                  <a:srgbClr val="CCCCCC"/>
                </a:solidFill>
              </a:defRPr>
            </a:lvl6pPr>
            <a:lvl7pPr lvl="6" algn="ctr" rtl="0">
              <a:lnSpc>
                <a:spcPct val="100000"/>
              </a:lnSpc>
              <a:spcBef>
                <a:spcPts val="0"/>
              </a:spcBef>
              <a:spcAft>
                <a:spcPts val="0"/>
              </a:spcAft>
              <a:buClr>
                <a:srgbClr val="CCCCCC"/>
              </a:buClr>
              <a:buSzPts val="2800"/>
              <a:buNone/>
              <a:defRPr sz="2800">
                <a:solidFill>
                  <a:srgbClr val="CCCCCC"/>
                </a:solidFill>
              </a:defRPr>
            </a:lvl7pPr>
            <a:lvl8pPr lvl="7" algn="ctr" rtl="0">
              <a:lnSpc>
                <a:spcPct val="100000"/>
              </a:lnSpc>
              <a:spcBef>
                <a:spcPts val="0"/>
              </a:spcBef>
              <a:spcAft>
                <a:spcPts val="0"/>
              </a:spcAft>
              <a:buClr>
                <a:srgbClr val="CCCCCC"/>
              </a:buClr>
              <a:buSzPts val="2800"/>
              <a:buNone/>
              <a:defRPr sz="2800">
                <a:solidFill>
                  <a:srgbClr val="CCCCCC"/>
                </a:solidFill>
              </a:defRPr>
            </a:lvl8pPr>
            <a:lvl9pPr lvl="8" algn="ctr" rtl="0">
              <a:lnSpc>
                <a:spcPct val="100000"/>
              </a:lnSpc>
              <a:spcBef>
                <a:spcPts val="0"/>
              </a:spcBef>
              <a:spcAft>
                <a:spcPts val="0"/>
              </a:spcAft>
              <a:buClr>
                <a:srgbClr val="CCCCCC"/>
              </a:buClr>
              <a:buSzPts val="2800"/>
              <a:buNone/>
              <a:defRPr sz="2800">
                <a:solidFill>
                  <a:srgbClr val="CCCCCC"/>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lums 2">
  <p:cSld name="TITLE_ONLY_3">
    <p:spTree>
      <p:nvGrpSpPr>
        <p:cNvPr id="1" name="Shape 64"/>
        <p:cNvGrpSpPr/>
        <p:nvPr/>
      </p:nvGrpSpPr>
      <p:grpSpPr>
        <a:xfrm>
          <a:off x="0" y="0"/>
          <a:ext cx="0" cy="0"/>
          <a:chOff x="0" y="0"/>
          <a:chExt cx="0" cy="0"/>
        </a:xfrm>
      </p:grpSpPr>
      <p:sp>
        <p:nvSpPr>
          <p:cNvPr id="65" name="Google Shape;65;p10"/>
          <p:cNvSpPr txBox="1">
            <a:spLocks noGrp="1"/>
          </p:cNvSpPr>
          <p:nvPr>
            <p:ph type="ctrTitle"/>
          </p:nvPr>
        </p:nvSpPr>
        <p:spPr>
          <a:xfrm>
            <a:off x="-539012" y="2132593"/>
            <a:ext cx="4567800" cy="946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66" name="Google Shape;66;p10"/>
          <p:cNvSpPr txBox="1">
            <a:spLocks noGrp="1"/>
          </p:cNvSpPr>
          <p:nvPr>
            <p:ph type="subTitle" idx="1"/>
          </p:nvPr>
        </p:nvSpPr>
        <p:spPr>
          <a:xfrm>
            <a:off x="1231588" y="3202043"/>
            <a:ext cx="2797200" cy="111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67" name="Google Shape;67;p10"/>
          <p:cNvSpPr txBox="1">
            <a:spLocks noGrp="1"/>
          </p:cNvSpPr>
          <p:nvPr>
            <p:ph type="subTitle" idx="2"/>
          </p:nvPr>
        </p:nvSpPr>
        <p:spPr>
          <a:xfrm>
            <a:off x="5115470" y="3202043"/>
            <a:ext cx="2797200" cy="111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68" name="Google Shape;68;p10"/>
          <p:cNvSpPr txBox="1">
            <a:spLocks noGrp="1"/>
          </p:cNvSpPr>
          <p:nvPr>
            <p:ph type="ctrTitle" idx="3"/>
          </p:nvPr>
        </p:nvSpPr>
        <p:spPr>
          <a:xfrm>
            <a:off x="5115470" y="2132593"/>
            <a:ext cx="4587300" cy="946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design">
  <p:cSld name="CUSTOM_6_1_1">
    <p:spTree>
      <p:nvGrpSpPr>
        <p:cNvPr id="1" name="Shape 73"/>
        <p:cNvGrpSpPr/>
        <p:nvPr/>
      </p:nvGrpSpPr>
      <p:grpSpPr>
        <a:xfrm>
          <a:off x="0" y="0"/>
          <a:ext cx="0" cy="0"/>
          <a:chOff x="0" y="0"/>
          <a:chExt cx="0" cy="0"/>
        </a:xfrm>
      </p:grpSpPr>
      <p:sp>
        <p:nvSpPr>
          <p:cNvPr id="74" name="Google Shape;74;p12"/>
          <p:cNvSpPr txBox="1">
            <a:spLocks noGrp="1"/>
          </p:cNvSpPr>
          <p:nvPr>
            <p:ph type="ctrTitle"/>
          </p:nvPr>
        </p:nvSpPr>
        <p:spPr>
          <a:xfrm>
            <a:off x="723600" y="470625"/>
            <a:ext cx="1497600" cy="9462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26">
    <p:spTree>
      <p:nvGrpSpPr>
        <p:cNvPr id="1" name="Shape 13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SLIDE">
  <p:cSld name="CUSTOM_27">
    <p:bg>
      <p:bgPr>
        <a:solidFill>
          <a:schemeClr val="lt1"/>
        </a:solidFill>
        <a:effectLst/>
      </p:bgPr>
    </p:bg>
    <p:spTree>
      <p:nvGrpSpPr>
        <p:cNvPr id="1" name="Shape 1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1pPr>
            <a:lvl2pPr lvl="1"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2pPr>
            <a:lvl3pPr lvl="2"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3pPr>
            <a:lvl4pPr lvl="3"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4pPr>
            <a:lvl5pPr lvl="4"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5pPr>
            <a:lvl6pPr lvl="5"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6pPr>
            <a:lvl7pPr lvl="6"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7pPr>
            <a:lvl8pPr lvl="7"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8pPr>
            <a:lvl9pPr lvl="8"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1pPr>
            <a:lvl2pPr marL="914400" lvl="1"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2pPr>
            <a:lvl3pPr marL="1371600" lvl="2"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3pPr>
            <a:lvl4pPr marL="1828800" lvl="3"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4pPr>
            <a:lvl5pPr marL="2286000" lvl="4"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5pPr>
            <a:lvl6pPr marL="2743200" lvl="5"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6pPr>
            <a:lvl7pPr marL="3200400" lvl="6"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7pPr>
            <a:lvl8pPr marL="3657600" lvl="7" indent="-304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8pPr>
            <a:lvl9pPr marL="4114800" lvl="8" indent="-304800" rtl="0">
              <a:lnSpc>
                <a:spcPct val="115000"/>
              </a:lnSpc>
              <a:spcBef>
                <a:spcPts val="1600"/>
              </a:spcBef>
              <a:spcAft>
                <a:spcPts val="160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6" r:id="rId2"/>
    <p:sldLayoutId id="2147483658" r:id="rId3"/>
    <p:sldLayoutId id="2147483669" r:id="rId4"/>
    <p:sldLayoutId id="2147483670"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0" b="-10000"/>
          </a:stretch>
        </a:blipFill>
        <a:effectLst/>
      </p:bgPr>
    </p:bg>
    <p:spTree>
      <p:nvGrpSpPr>
        <p:cNvPr id="1" name="Shape 143"/>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0E10E18-852D-9C5A-BFE7-8977BB64DC39}"/>
              </a:ext>
            </a:extLst>
          </p:cNvPr>
          <p:cNvSpPr/>
          <p:nvPr/>
        </p:nvSpPr>
        <p:spPr>
          <a:xfrm>
            <a:off x="137530" y="1460888"/>
            <a:ext cx="8868937" cy="3251336"/>
          </a:xfrm>
          <a:prstGeom prst="roundRect">
            <a:avLst/>
          </a:prstGeom>
          <a:solidFill>
            <a:schemeClr val="accent6">
              <a:alpha val="50000"/>
            </a:schemeClr>
          </a:solidFill>
          <a:ln>
            <a:no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44" name="Google Shape;144;p29"/>
          <p:cNvSpPr/>
          <p:nvPr/>
        </p:nvSpPr>
        <p:spPr>
          <a:xfrm rot="10800000">
            <a:off x="7782000" y="367900"/>
            <a:ext cx="952500" cy="826275"/>
          </a:xfrm>
          <a:custGeom>
            <a:avLst/>
            <a:gdLst/>
            <a:ahLst/>
            <a:cxnLst/>
            <a:rect l="l" t="t" r="r" b="b"/>
            <a:pathLst>
              <a:path w="38100" h="33051" extrusionOk="0">
                <a:moveTo>
                  <a:pt x="0" y="0"/>
                </a:moveTo>
                <a:lnTo>
                  <a:pt x="0" y="33051"/>
                </a:lnTo>
                <a:lnTo>
                  <a:pt x="38100" y="33051"/>
                </a:lnTo>
              </a:path>
            </a:pathLst>
          </a:custGeom>
          <a:noFill/>
          <a:ln w="9525" cap="flat" cmpd="sng">
            <a:solidFill>
              <a:srgbClr val="FFFFFF"/>
            </a:solidFill>
            <a:prstDash val="solid"/>
            <a:round/>
            <a:headEnd type="none" w="med" len="med"/>
            <a:tailEnd type="none" w="med" len="med"/>
          </a:ln>
        </p:spPr>
        <p:txBody>
          <a:bodyPr/>
          <a:p/>
        </p:txBody>
      </p:sp>
      <p:sp>
        <p:nvSpPr>
          <p:cNvPr id="146" name="Google Shape;146;p29"/>
          <p:cNvSpPr txBox="1">
            <a:spLocks noGrp="1"/>
          </p:cNvSpPr>
          <p:nvPr>
            <p:ph type="subTitle" idx="1"/>
          </p:nvPr>
        </p:nvSpPr>
        <p:spPr>
          <a:xfrm>
            <a:off x="2539649" y="963718"/>
            <a:ext cx="4064700" cy="353151"/>
          </a:xfrm>
          <a:prstGeom prst="rect">
            <a:avLst/>
          </a:prstGeom>
        </p:spPr>
        <p:txBody>
          <a:bodyPr spcFirstLastPara="1" wrap="square" lIns="91425" tIns="91425" rIns="91425" bIns="91425" anchor="b" anchorCtr="0">
            <a:noAutofit/>
          </a:bodyPr>
          <a:lstStyle/>
          <a:p>
            <a:pPr marL="0" lvl="0" indent="0"/>
            <a:r>
              <a:rPr lang="en-IN" dirty="0">
                <a:solidFill>
                  <a:schemeClr val="bg1"/>
                </a:solidFill>
              </a:rPr>
              <a:t>Employee Health Insurance Advisory</a:t>
            </a:r>
            <a:endParaRPr dirty="0">
              <a:solidFill>
                <a:schemeClr val="bg1"/>
              </a:solidFill>
            </a:endParaRPr>
          </a:p>
        </p:txBody>
      </p:sp>
      <p:sp>
        <p:nvSpPr>
          <p:cNvPr id="147" name="Google Shape;147;p29"/>
          <p:cNvSpPr txBox="1">
            <a:spLocks noGrp="1"/>
          </p:cNvSpPr>
          <p:nvPr>
            <p:ph type="ctrTitle"/>
          </p:nvPr>
        </p:nvSpPr>
        <p:spPr>
          <a:xfrm>
            <a:off x="1724721" y="152972"/>
            <a:ext cx="5694557" cy="810746"/>
          </a:xfrm>
          <a:prstGeom prst="rect">
            <a:avLst/>
          </a:prstGeom>
        </p:spPr>
        <p:txBody>
          <a:bodyPr spcFirstLastPara="1" wrap="square" lIns="91425" tIns="91425" rIns="91425" bIns="91425" anchor="b" anchorCtr="0">
            <a:noAutofit/>
          </a:bodyPr>
          <a:lstStyle/>
          <a:p>
            <a:pPr lvl="0"/>
            <a:r>
              <a:rPr lang="en-IN" dirty="0">
                <a:solidFill>
                  <a:schemeClr val="bg1"/>
                </a:solidFill>
                <a:effectLst>
                  <a:outerShdw blurRad="38100" dist="38100" dir="2700000" algn="tl">
                    <a:srgbClr val="000000">
                      <a:alpha val="43137"/>
                    </a:srgbClr>
                  </a:outerShdw>
                </a:effectLst>
              </a:rPr>
              <a:t>TATA</a:t>
            </a:r>
            <a:endParaRPr dirty="0">
              <a:solidFill>
                <a:schemeClr val="bg1"/>
              </a:solidFill>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601F4309-47E6-25C4-02DB-0716ECBFCE50}"/>
              </a:ext>
            </a:extLst>
          </p:cNvPr>
          <p:cNvSpPr txBox="1"/>
          <p:nvPr/>
        </p:nvSpPr>
        <p:spPr>
          <a:xfrm>
            <a:off x="375194" y="1459864"/>
            <a:ext cx="3730008" cy="1508105"/>
          </a:xfrm>
          <a:prstGeom prst="rect">
            <a:avLst/>
          </a:prstGeom>
          <a:noFill/>
        </p:spPr>
        <p:txBody>
          <a:bodyPr wrap="square">
            <a:spAutoFit/>
          </a:bodyPr>
          <a:lstStyle/>
          <a:p>
            <a:r>
              <a:rPr lang="en-IN" sz="1600" b="1" u="sng" dirty="0">
                <a:solidFill>
                  <a:schemeClr val="bg1"/>
                </a:solidFill>
                <a:latin typeface="DM Serif Display" panose="020F0502020204030204" pitchFamily="2" charset="0"/>
              </a:rPr>
              <a:t>Company Overview</a:t>
            </a:r>
          </a:p>
          <a:p>
            <a:br>
              <a:rPr lang="en-IN" sz="1600" dirty="0">
                <a:solidFill>
                  <a:schemeClr val="bg1"/>
                </a:solidFill>
                <a:latin typeface="DM Serif Display" panose="020F0502020204030204" pitchFamily="2" charset="0"/>
              </a:rPr>
            </a:br>
            <a:r>
              <a:rPr lang="en-IN" sz="1200" dirty="0">
                <a:solidFill>
                  <a:schemeClr val="bg1"/>
                </a:solidFill>
                <a:latin typeface="DM Serif Display" panose="020F0502020204030204" pitchFamily="2" charset="0"/>
              </a:rPr>
              <a:t>Industry: Conglomerate (diverse sectors including automotive…</a:t>
            </a:r>
          </a:p>
          <a:p>
            <a:br>
              <a:rPr lang="en-IN" sz="1200" dirty="0">
                <a:solidFill>
                  <a:schemeClr val="bg1"/>
                </a:solidFill>
                <a:latin typeface="DM Serif Display" panose="020F0502020204030204" pitchFamily="2" charset="0"/>
              </a:rPr>
            </a:br>
            <a:r>
              <a:rPr lang="en-IN" sz="1200" dirty="0">
                <a:solidFill>
                  <a:schemeClr val="bg1"/>
                </a:solidFill>
                <a:latin typeface="DM Serif Display" panose="020F0502020204030204" pitchFamily="2" charset="0"/>
              </a:rPr>
              <a:t>Company Size: 1,793,466 employees worldwide (as of March…</a:t>
            </a:r>
          </a:p>
          <a:p>
            <a:br>
              <a:rPr lang="en-IN" sz="1200" dirty="0">
                <a:solidFill>
                  <a:schemeClr val="bg1"/>
                </a:solidFill>
                <a:latin typeface="DM Serif Display" panose="020F0502020204030204" pitchFamily="2" charset="0"/>
              </a:rPr>
            </a:br>
            <a:r>
              <a:rPr lang="en-IN" sz="1200" dirty="0">
                <a:solidFill>
                  <a:schemeClr val="bg1"/>
                </a:solidFill>
                <a:latin typeface="DM Serif Display" panose="020F0502020204030204" pitchFamily="2" charset="0"/>
              </a:rPr>
              <a:t>Workforce: Tata Group is one of India’s largest and most diversified conglomerates, operating across more than 100 countries…</a:t>
            </a:r>
          </a:p>
        </p:txBody>
      </p:sp>
      <p:sp>
        <p:nvSpPr>
          <p:cNvPr id="7" name="TextBox 6">
            <a:extLst>
              <a:ext uri="{FF2B5EF4-FFF2-40B4-BE49-F238E27FC236}">
                <a16:creationId xmlns:a16="http://schemas.microsoft.com/office/drawing/2014/main" id="{B22C0522-784F-2877-56F8-56E8FDC93E50}"/>
              </a:ext>
            </a:extLst>
          </p:cNvPr>
          <p:cNvSpPr txBox="1"/>
          <p:nvPr/>
        </p:nvSpPr>
        <p:spPr>
          <a:xfrm>
            <a:off x="5038799" y="1459864"/>
            <a:ext cx="3730008" cy="1323439"/>
          </a:xfrm>
          <a:prstGeom prst="rect">
            <a:avLst/>
          </a:prstGeom>
          <a:noFill/>
        </p:spPr>
        <p:txBody>
          <a:bodyPr wrap="square">
            <a:spAutoFit/>
          </a:bodyPr>
          <a:lstStyle/>
          <a:p>
            <a:r>
              <a:rPr lang="en-US" sz="1600" b="1" dirty="0">
                <a:solidFill>
                  <a:schemeClr val="bg1"/>
                </a:solidFill>
                <a:latin typeface="DM Serif Display" panose="020F0502020204030204" pitchFamily="2" charset="0"/>
              </a:rPr>
              <a:t>Key Workforce Considerations</a:t>
            </a:r>
          </a:p>
          <a:p>
            <a:endParaRPr lang="en-US" sz="1600" b="1" dirty="0">
              <a:solidFill>
                <a:schemeClr val="bg1"/>
              </a:solidFill>
              <a:latin typeface="DM Serif Display" panose="020F0502020204030204" pitchFamily="2" charset="0"/>
            </a:endParaRPr>
          </a:p>
          <a:p>
            <a:pPr marL="285750" indent="-285750">
              <a:buClr>
                <a:schemeClr val="bg1"/>
              </a:buClr>
              <a:buFont typeface="Arial" panose="020B0604020202020204" pitchFamily="34" charset="0"/>
              <a:buChar char="•"/>
            </a:pPr>
            <a:r>
              <a:rPr lang="en-US" sz="1200" b="1" dirty="0">
                <a:solidFill>
                  <a:schemeClr val="bg1"/>
                </a:solidFill>
                <a:latin typeface="DM Serif Display" panose="020F0502020204030204" pitchFamily="2" charset="0"/>
              </a:rPr>
              <a:t>Potential exposure: Managing health‑insurance coverage for a workforce exceeding 1.7 million employees across…</a:t>
            </a:r>
          </a:p>
          <a:p>
            <a:pPr marL="285750" indent="-285750">
              <a:buClr>
                <a:schemeClr val="bg1"/>
              </a:buClr>
              <a:buFont typeface="Arial" panose="020B0604020202020204" pitchFamily="34" charset="0"/>
              <a:buChar char="•"/>
            </a:pPr>
            <a:r>
              <a:rPr lang="en-US" sz="1200" b="1" dirty="0">
                <a:solidFill>
                  <a:schemeClr val="bg1"/>
                </a:solidFill>
                <a:latin typeface="DM Serif Display" panose="020F0502020204030204" pitchFamily="2" charset="0"/>
              </a:rPr>
              <a:t>Potential exposure: A sizable portion of the workforce consists of flexible, temporary and contractual staff…</a:t>
            </a:r>
          </a:p>
          <a:p>
            <a:pPr marL="285750" indent="-285750">
              <a:buClr>
                <a:schemeClr val="bg1"/>
              </a:buClr>
              <a:buFont typeface="Arial" panose="020B0604020202020204" pitchFamily="34" charset="0"/>
              <a:buChar char="•"/>
            </a:pPr>
            <a:r>
              <a:rPr lang="en-US" sz="1200" b="1" dirty="0">
                <a:solidFill>
                  <a:schemeClr val="bg1"/>
                </a:solidFill>
                <a:latin typeface="DM Serif Display" panose="020F0502020204030204" pitchFamily="2" charset="0"/>
              </a:rPr>
              <a:t>Potential exposure: Manufacturing and automotive operations (e.g., Tata Motors) involve physical production…</a:t>
            </a:r>
          </a:p>
          <a:p>
            <a:pPr marL="285750" indent="-285750">
              <a:buClr>
                <a:schemeClr val="bg1"/>
              </a:buClr>
              <a:buFont typeface="Arial" panose="020B0604020202020204" pitchFamily="34" charset="0"/>
              <a:buChar char="•"/>
            </a:pPr>
            <a:r>
              <a:rPr lang="en-US" sz="1200" b="1" dirty="0">
                <a:solidFill>
                  <a:schemeClr val="bg1"/>
                </a:solidFill>
                <a:latin typeface="DM Serif Display" panose="020F0502020204030204" pitchFamily="2" charset="0"/>
              </a:rPr>
              <a:t>Potential exposure: Global operations spanning Asia, Africa, Europe and the Americas expose the group to varied…</a:t>
            </a:r>
            <a:endParaRPr lang="en-IN" sz="1200" dirty="0">
              <a:solidFill>
                <a:schemeClr val="bg1"/>
              </a:solidFill>
              <a:latin typeface="DM Serif Display" panose="020F0502020204030204" pitchFamily="2" charset="0"/>
            </a:endParaRPr>
          </a:p>
        </p:txBody>
      </p:sp>
      <p:cxnSp>
        <p:nvCxnSpPr>
          <p:cNvPr id="9" name="Straight Connector 8">
            <a:extLst>
              <a:ext uri="{FF2B5EF4-FFF2-40B4-BE49-F238E27FC236}">
                <a16:creationId xmlns:a16="http://schemas.microsoft.com/office/drawing/2014/main" id="{5C9FEF79-9F52-4727-0996-2CA63DD3D893}"/>
              </a:ext>
            </a:extLst>
          </p:cNvPr>
          <p:cNvCxnSpPr>
            <a:cxnSpLocks/>
          </p:cNvCxnSpPr>
          <p:nvPr/>
        </p:nvCxnSpPr>
        <p:spPr>
          <a:xfrm flipV="1">
            <a:off x="0" y="1316869"/>
            <a:ext cx="9144000" cy="102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Google Shape;146;p29">
            <a:extLst>
              <a:ext uri="{FF2B5EF4-FFF2-40B4-BE49-F238E27FC236}">
                <a16:creationId xmlns:a16="http://schemas.microsoft.com/office/drawing/2014/main" id="{588C7C11-6F93-0498-210D-2A3208DEBAA8}"/>
              </a:ext>
            </a:extLst>
          </p:cNvPr>
          <p:cNvSpPr txBox="1">
            <a:spLocks/>
          </p:cNvSpPr>
          <p:nvPr/>
        </p:nvSpPr>
        <p:spPr>
          <a:xfrm>
            <a:off x="1333575" y="4790349"/>
            <a:ext cx="6604351" cy="35315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rgbClr val="CCCCCC"/>
              </a:buClr>
              <a:buSzPts val="1200"/>
              <a:buFont typeface="Open Sans Light"/>
              <a:buNone/>
              <a:defRPr sz="1200" b="0" i="0" u="none" strike="noStrike" cap="none" spc="0">
                <a:solidFill>
                  <a:srgbClr val="CCCCCC"/>
                </a:solidFill>
                <a:latin typeface="Open Sans Light"/>
                <a:ea typeface="Open Sans Light"/>
                <a:cs typeface="Open Sans Light"/>
                <a:sym typeface="Open Sans Light"/>
              </a:defRPr>
            </a:lvl1pPr>
            <a:lvl2pPr marL="914400" marR="0" lvl="1" indent="-304800" algn="ctr" rtl="0">
              <a:lnSpc>
                <a:spcPct val="100000"/>
              </a:lnSpc>
              <a:spcBef>
                <a:spcPts val="0"/>
              </a:spcBef>
              <a:spcAft>
                <a:spcPts val="0"/>
              </a:spcAft>
              <a:buClr>
                <a:srgbClr val="CCCCCC"/>
              </a:buClr>
              <a:buSzPts val="2800"/>
              <a:buFont typeface="Open Sans Light"/>
              <a:buNone/>
              <a:defRPr sz="2800" b="0" i="0" u="none" strike="noStrike" cap="none" spc="0">
                <a:solidFill>
                  <a:srgbClr val="CCCCCC"/>
                </a:solidFill>
                <a:latin typeface="Open Sans Light"/>
                <a:ea typeface="Open Sans Light"/>
                <a:cs typeface="Open Sans Light"/>
                <a:sym typeface="Open Sans Light"/>
              </a:defRPr>
            </a:lvl2pPr>
            <a:lvl3pPr marL="1371600" marR="0" lvl="2" indent="-304800" algn="ctr" rtl="0">
              <a:lnSpc>
                <a:spcPct val="100000"/>
              </a:lnSpc>
              <a:spcBef>
                <a:spcPts val="0"/>
              </a:spcBef>
              <a:spcAft>
                <a:spcPts val="0"/>
              </a:spcAft>
              <a:buClr>
                <a:srgbClr val="CCCCCC"/>
              </a:buClr>
              <a:buSzPts val="2800"/>
              <a:buFont typeface="Open Sans Light"/>
              <a:buNone/>
              <a:defRPr sz="2800" b="0" i="0" u="none" strike="noStrike" cap="none" spc="0">
                <a:solidFill>
                  <a:srgbClr val="CCCCCC"/>
                </a:solidFill>
                <a:latin typeface="Open Sans Light"/>
                <a:ea typeface="Open Sans Light"/>
                <a:cs typeface="Open Sans Light"/>
                <a:sym typeface="Open Sans Light"/>
              </a:defRPr>
            </a:lvl3pPr>
            <a:lvl4pPr marL="1828800" marR="0" lvl="3" indent="-304800" algn="ctr" rtl="0">
              <a:lnSpc>
                <a:spcPct val="100000"/>
              </a:lnSpc>
              <a:spcBef>
                <a:spcPts val="0"/>
              </a:spcBef>
              <a:spcAft>
                <a:spcPts val="0"/>
              </a:spcAft>
              <a:buClr>
                <a:srgbClr val="CCCCCC"/>
              </a:buClr>
              <a:buSzPts val="2800"/>
              <a:buFont typeface="Open Sans Light"/>
              <a:buNone/>
              <a:defRPr sz="2800" b="0" i="0" u="none" strike="noStrike" cap="none" spc="0">
                <a:solidFill>
                  <a:srgbClr val="CCCCCC"/>
                </a:solidFill>
                <a:latin typeface="Open Sans Light"/>
                <a:ea typeface="Open Sans Light"/>
                <a:cs typeface="Open Sans Light"/>
                <a:sym typeface="Open Sans Light"/>
              </a:defRPr>
            </a:lvl4pPr>
            <a:lvl5pPr marL="2286000" marR="0" lvl="4" indent="-304800" algn="ctr" rtl="0">
              <a:lnSpc>
                <a:spcPct val="100000"/>
              </a:lnSpc>
              <a:spcBef>
                <a:spcPts val="0"/>
              </a:spcBef>
              <a:spcAft>
                <a:spcPts val="0"/>
              </a:spcAft>
              <a:buClr>
                <a:srgbClr val="CCCCCC"/>
              </a:buClr>
              <a:buSzPts val="2800"/>
              <a:buFont typeface="Open Sans Light"/>
              <a:buNone/>
              <a:defRPr sz="2800" b="0" i="0" u="none" strike="noStrike" cap="none" spc="0">
                <a:solidFill>
                  <a:srgbClr val="CCCCCC"/>
                </a:solidFill>
                <a:latin typeface="Open Sans Light"/>
                <a:ea typeface="Open Sans Light"/>
                <a:cs typeface="Open Sans Light"/>
                <a:sym typeface="Open Sans Light"/>
              </a:defRPr>
            </a:lvl5pPr>
            <a:lvl6pPr marL="2743200" marR="0" lvl="5" indent="-304800" algn="ctr" rtl="0">
              <a:lnSpc>
                <a:spcPct val="100000"/>
              </a:lnSpc>
              <a:spcBef>
                <a:spcPts val="0"/>
              </a:spcBef>
              <a:spcAft>
                <a:spcPts val="0"/>
              </a:spcAft>
              <a:buClr>
                <a:srgbClr val="CCCCCC"/>
              </a:buClr>
              <a:buSzPts val="2800"/>
              <a:buFont typeface="Open Sans Light"/>
              <a:buNone/>
              <a:defRPr sz="2800" b="0" i="0" u="none" strike="noStrike" cap="none" spc="0">
                <a:solidFill>
                  <a:srgbClr val="CCCCCC"/>
                </a:solidFill>
                <a:latin typeface="Open Sans Light"/>
                <a:ea typeface="Open Sans Light"/>
                <a:cs typeface="Open Sans Light"/>
                <a:sym typeface="Open Sans Light"/>
              </a:defRPr>
            </a:lvl6pPr>
            <a:lvl7pPr marL="3200400" marR="0" lvl="6" indent="-304800" algn="ctr" rtl="0">
              <a:lnSpc>
                <a:spcPct val="100000"/>
              </a:lnSpc>
              <a:spcBef>
                <a:spcPts val="0"/>
              </a:spcBef>
              <a:spcAft>
                <a:spcPts val="0"/>
              </a:spcAft>
              <a:buClr>
                <a:srgbClr val="CCCCCC"/>
              </a:buClr>
              <a:buSzPts val="2800"/>
              <a:buFont typeface="Open Sans Light"/>
              <a:buNone/>
              <a:defRPr sz="2800" b="0" i="0" u="none" strike="noStrike" cap="none" spc="0">
                <a:solidFill>
                  <a:srgbClr val="CCCCCC"/>
                </a:solidFill>
                <a:latin typeface="Open Sans Light"/>
                <a:ea typeface="Open Sans Light"/>
                <a:cs typeface="Open Sans Light"/>
                <a:sym typeface="Open Sans Light"/>
              </a:defRPr>
            </a:lvl7pPr>
            <a:lvl8pPr marL="3657600" marR="0" lvl="7" indent="-304800" algn="ctr" rtl="0">
              <a:lnSpc>
                <a:spcPct val="100000"/>
              </a:lnSpc>
              <a:spcBef>
                <a:spcPts val="0"/>
              </a:spcBef>
              <a:spcAft>
                <a:spcPts val="0"/>
              </a:spcAft>
              <a:buClr>
                <a:srgbClr val="CCCCCC"/>
              </a:buClr>
              <a:buSzPts val="2800"/>
              <a:buFont typeface="Open Sans Light"/>
              <a:buNone/>
              <a:defRPr sz="2800" b="0" i="0" u="none" strike="noStrike" cap="none" spc="0">
                <a:solidFill>
                  <a:srgbClr val="CCCCCC"/>
                </a:solidFill>
                <a:latin typeface="Open Sans Light"/>
                <a:ea typeface="Open Sans Light"/>
                <a:cs typeface="Open Sans Light"/>
                <a:sym typeface="Open Sans Light"/>
              </a:defRPr>
            </a:lvl8pPr>
            <a:lvl9pPr marL="4114800" marR="0" lvl="8" indent="-304800" algn="ctr" rtl="0">
              <a:lnSpc>
                <a:spcPct val="100000"/>
              </a:lnSpc>
              <a:spcBef>
                <a:spcPts val="0"/>
              </a:spcBef>
              <a:spcAft>
                <a:spcPts val="0"/>
              </a:spcAft>
              <a:buClr>
                <a:srgbClr val="CCCCCC"/>
              </a:buClr>
              <a:buSzPts val="2800"/>
              <a:buFont typeface="Open Sans Light"/>
              <a:buNone/>
              <a:defRPr sz="2800" b="0" i="0" u="none" strike="noStrike" cap="none" spc="0">
                <a:solidFill>
                  <a:srgbClr val="CCCCCC"/>
                </a:solidFill>
                <a:latin typeface="Open Sans Light"/>
                <a:ea typeface="Open Sans Light"/>
                <a:cs typeface="Open Sans Light"/>
                <a:sym typeface="Open Sans Light"/>
              </a:defRPr>
            </a:lvl9pPr>
          </a:lstStyle>
          <a:p>
            <a:pPr marL="0" indent="0"/>
            <a:r>
              <a:rPr lang="en-US" sz="900" dirty="0">
                <a:solidFill>
                  <a:schemeClr val="bg1"/>
                </a:solidFill>
              </a:rPr>
              <a:t>Insurance considerations derived from company context and subject to advisor confirmation.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2"/>
          <p:cNvSpPr txBox="1">
            <a:spLocks noGrp="1"/>
          </p:cNvSpPr>
          <p:nvPr>
            <p:ph type="ctrTitle"/>
          </p:nvPr>
        </p:nvSpPr>
        <p:spPr>
          <a:xfrm>
            <a:off x="343588" y="276533"/>
            <a:ext cx="3332026" cy="946200"/>
          </a:xfrm>
          <a:prstGeom prst="rect">
            <a:avLst/>
          </a:prstGeom>
        </p:spPr>
        <p:txBody>
          <a:bodyPr spcFirstLastPara="1" wrap="square" lIns="91425" tIns="91425" rIns="91425" bIns="91425" anchor="t" anchorCtr="0">
            <a:noAutofit/>
          </a:bodyPr>
          <a:lstStyle/>
          <a:p>
            <a:pPr lvl="0"/>
            <a:r>
              <a:rPr lang="en-IN" b="1" dirty="0"/>
              <a:t>Recommended for Consideration: Niva Bupa</a:t>
            </a:r>
            <a:br>
              <a:rPr lang="en-IN" b="1" dirty="0"/>
            </a:br>
            <a:r>
              <a:rPr lang="en-IN" dirty="0"/>
              <a:t/>
            </a:r>
            <a:endParaRPr dirty="0"/>
          </a:p>
        </p:txBody>
      </p:sp>
      <p:sp>
        <p:nvSpPr>
          <p:cNvPr id="356" name="Google Shape;356;p42"/>
          <p:cNvSpPr/>
          <p:nvPr/>
        </p:nvSpPr>
        <p:spPr>
          <a:xfrm>
            <a:off x="384072" y="1261373"/>
            <a:ext cx="2454843" cy="616647"/>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2"/>
          <p:cNvSpPr txBox="1"/>
          <p:nvPr/>
        </p:nvSpPr>
        <p:spPr>
          <a:xfrm>
            <a:off x="395843" y="1286990"/>
            <a:ext cx="1902851" cy="504000"/>
          </a:xfrm>
          <a:prstGeom prst="rect">
            <a:avLst/>
          </a:prstGeom>
          <a:noFill/>
          <a:ln>
            <a:noFill/>
          </a:ln>
        </p:spPr>
        <p:txBody>
          <a:bodyPr spcFirstLastPara="1" wrap="square" lIns="0" tIns="6350" rIns="0" bIns="0" anchor="t" anchorCtr="0">
            <a:noAutofit/>
          </a:bodyPr>
          <a:lstStyle/>
          <a:p>
            <a:pPr lvl="0"/>
            <a:r>
              <a:rPr lang="en-US" dirty="0">
                <a:solidFill>
                  <a:schemeClr val="dk1"/>
                </a:solidFill>
                <a:latin typeface="DM Serif Display"/>
                <a:ea typeface="DM Serif Display"/>
                <a:cs typeface="DM Serif Display"/>
                <a:sym typeface="DM Serif Display"/>
              </a:rPr>
              <a:t>Why this policy fits TATA</a:t>
            </a:r>
            <a:r>
              <a:rPr lang="en-US" sz="1200" dirty="0">
                <a:solidFill>
                  <a:schemeClr val="dk1"/>
                </a:solidFill>
                <a:latin typeface="DM Serif Display"/>
                <a:ea typeface="DM Serif Display"/>
                <a:cs typeface="DM Serif Display"/>
                <a:sym typeface="DM Serif Display"/>
              </a:rPr>
              <a:t/>
            </a:r>
            <a:endParaRPr lang="en-US" sz="1000" dirty="0">
              <a:solidFill>
                <a:schemeClr val="dk1"/>
              </a:solidFill>
              <a:latin typeface="DM Serif Display"/>
              <a:ea typeface="DM Serif Display"/>
              <a:cs typeface="DM Serif Display"/>
              <a:sym typeface="DM Serif Display"/>
            </a:endParaRPr>
          </a:p>
        </p:txBody>
      </p:sp>
      <p:sp>
        <p:nvSpPr>
          <p:cNvPr id="374" name="Google Shape;374;p42"/>
          <p:cNvSpPr txBox="1"/>
          <p:nvPr/>
        </p:nvSpPr>
        <p:spPr>
          <a:xfrm>
            <a:off x="4424570" y="807564"/>
            <a:ext cx="1111200" cy="487800"/>
          </a:xfrm>
          <a:prstGeom prst="rect">
            <a:avLst/>
          </a:prstGeom>
          <a:noFill/>
          <a:ln>
            <a:noFill/>
          </a:ln>
        </p:spPr>
        <p:txBody>
          <a:bodyPr spcFirstLastPara="1" wrap="square" lIns="0" tIns="6350" rIns="0" bIns="0" anchor="ctr" anchorCtr="0">
            <a:noAutofit/>
          </a:bodyPr>
          <a:lstStyle/>
          <a:p>
            <a:pPr marL="0" marR="0" lvl="0" indent="0" algn="r" rtl="0">
              <a:lnSpc>
                <a:spcPct val="100000"/>
              </a:lnSpc>
              <a:spcBef>
                <a:spcPts val="0"/>
              </a:spcBef>
              <a:spcAft>
                <a:spcPts val="0"/>
              </a:spcAft>
              <a:buNone/>
            </a:pPr>
            <a:r>
              <a:rPr lang="en-IN" sz="1200" dirty="0">
                <a:solidFill>
                  <a:schemeClr val="dk1"/>
                </a:solidFill>
                <a:latin typeface="DM Serif Display"/>
                <a:ea typeface="DM Serif Display"/>
                <a:cs typeface="DM Serif Display"/>
                <a:sym typeface="DM Serif Display"/>
              </a:rPr>
              <a:t>Sum Insured</a:t>
            </a:r>
            <a:endParaRPr sz="900" dirty="0">
              <a:solidFill>
                <a:schemeClr val="dk1"/>
              </a:solidFill>
              <a:latin typeface="DM Serif Display"/>
              <a:ea typeface="DM Serif Display"/>
              <a:cs typeface="DM Serif Display"/>
              <a:sym typeface="DM Serif Display"/>
            </a:endParaRPr>
          </a:p>
        </p:txBody>
      </p:sp>
      <p:sp>
        <p:nvSpPr>
          <p:cNvPr id="375" name="Google Shape;375;p42"/>
          <p:cNvSpPr txBox="1"/>
          <p:nvPr/>
        </p:nvSpPr>
        <p:spPr>
          <a:xfrm>
            <a:off x="4424570" y="1169880"/>
            <a:ext cx="1111200" cy="487800"/>
          </a:xfrm>
          <a:prstGeom prst="rect">
            <a:avLst/>
          </a:prstGeom>
          <a:noFill/>
          <a:ln>
            <a:noFill/>
          </a:ln>
        </p:spPr>
        <p:txBody>
          <a:bodyPr spcFirstLastPara="1" wrap="square" lIns="0" tIns="6350" rIns="0" bIns="0" anchor="ctr" anchorCtr="0">
            <a:noAutofit/>
          </a:bodyPr>
          <a:lstStyle/>
          <a:p>
            <a:pPr marL="0" marR="0" lvl="0" indent="0" algn="r" rtl="0">
              <a:lnSpc>
                <a:spcPct val="100000"/>
              </a:lnSpc>
              <a:spcBef>
                <a:spcPts val="0"/>
              </a:spcBef>
              <a:spcAft>
                <a:spcPts val="0"/>
              </a:spcAft>
              <a:buNone/>
            </a:pPr>
            <a:r>
              <a:rPr lang="en-IN" sz="1200" dirty="0">
                <a:solidFill>
                  <a:schemeClr val="dk1"/>
                </a:solidFill>
                <a:latin typeface="DM Serif Display"/>
                <a:ea typeface="DM Serif Display"/>
                <a:cs typeface="DM Serif Display"/>
                <a:sym typeface="DM Serif Display"/>
              </a:rPr>
              <a:t>Premium</a:t>
            </a:r>
            <a:endParaRPr sz="900" dirty="0">
              <a:solidFill>
                <a:schemeClr val="dk1"/>
              </a:solidFill>
              <a:latin typeface="DM Serif Display"/>
              <a:ea typeface="DM Serif Display"/>
              <a:cs typeface="DM Serif Display"/>
              <a:sym typeface="DM Serif Display"/>
            </a:endParaRPr>
          </a:p>
        </p:txBody>
      </p:sp>
      <p:sp>
        <p:nvSpPr>
          <p:cNvPr id="376" name="Google Shape;376;p42"/>
          <p:cNvSpPr txBox="1"/>
          <p:nvPr/>
        </p:nvSpPr>
        <p:spPr>
          <a:xfrm>
            <a:off x="4424570" y="1591367"/>
            <a:ext cx="1111200" cy="487800"/>
          </a:xfrm>
          <a:prstGeom prst="rect">
            <a:avLst/>
          </a:prstGeom>
          <a:noFill/>
          <a:ln>
            <a:noFill/>
          </a:ln>
        </p:spPr>
        <p:txBody>
          <a:bodyPr spcFirstLastPara="1" wrap="square" lIns="0" tIns="6350" rIns="0" bIns="0" anchor="ctr" anchorCtr="0">
            <a:noAutofit/>
          </a:bodyPr>
          <a:lstStyle/>
          <a:p>
            <a:pPr marL="0" marR="0" lvl="0" indent="0" algn="r" rtl="0">
              <a:lnSpc>
                <a:spcPct val="100000"/>
              </a:lnSpc>
              <a:spcBef>
                <a:spcPts val="0"/>
              </a:spcBef>
              <a:spcAft>
                <a:spcPts val="0"/>
              </a:spcAft>
              <a:buNone/>
            </a:pPr>
            <a:r>
              <a:rPr lang="en-IN" sz="1200" dirty="0">
                <a:solidFill>
                  <a:schemeClr val="dk1"/>
                </a:solidFill>
                <a:latin typeface="DM Serif Display"/>
                <a:ea typeface="DM Serif Display"/>
                <a:cs typeface="DM Serif Display"/>
                <a:sym typeface="DM Serif Display"/>
              </a:rPr>
              <a:t>Policy Term</a:t>
            </a:r>
            <a:endParaRPr sz="900" dirty="0">
              <a:solidFill>
                <a:schemeClr val="dk1"/>
              </a:solidFill>
              <a:latin typeface="DM Serif Display"/>
              <a:ea typeface="DM Serif Display"/>
              <a:cs typeface="DM Serif Display"/>
              <a:sym typeface="DM Serif Display"/>
            </a:endParaRPr>
          </a:p>
        </p:txBody>
      </p:sp>
      <p:sp>
        <p:nvSpPr>
          <p:cNvPr id="5" name="TextBox 4">
            <a:extLst>
              <a:ext uri="{FF2B5EF4-FFF2-40B4-BE49-F238E27FC236}">
                <a16:creationId xmlns:a16="http://schemas.microsoft.com/office/drawing/2014/main" id="{03A96964-A401-D4E8-0668-747DF27EEB82}"/>
              </a:ext>
            </a:extLst>
          </p:cNvPr>
          <p:cNvSpPr txBox="1"/>
          <p:nvPr/>
        </p:nvSpPr>
        <p:spPr>
          <a:xfrm>
            <a:off x="300742" y="1929366"/>
            <a:ext cx="3623099" cy="938719"/>
          </a:xfrm>
          <a:prstGeom prst="rect">
            <a:avLst/>
          </a:prstGeom>
          <a:noFill/>
        </p:spPr>
        <p:txBody>
          <a:bodyPr wrap="square">
            <a:spAutoFit/>
          </a:bodyPr>
          <a:lstStyle/>
          <a:p>
            <a:pPr marL="171450" lvl="0" indent="-171450">
              <a:buFont typeface="Arial" panose="020B0604020202020204" pitchFamily="34" charset="0"/>
              <a:buChar char="•"/>
            </a:pPr>
            <a:r>
              <a:rPr lang="en-US" sz="1100" dirty="0">
                <a:solidFill>
                  <a:schemeClr val="dk1"/>
                </a:solidFill>
                <a:latin typeface="DM Serif Display"/>
                <a:ea typeface="DM Serif Display"/>
                <a:cs typeface="DM Serif Display"/>
                <a:sym typeface="DM Serif Display"/>
              </a:rPr>
              <a:t>Air Ambulance is covered up to INR 2,50,000 per Hospitalisation. — Provides rapid emergency transport for manufacturing or field incidents…</a:t>
            </a:r>
          </a:p>
          <a:p>
            <a:pPr marL="171450" lvl="0" indent="-171450">
              <a:buFont typeface="Arial" panose="020B0604020202020204" pitchFamily="34" charset="0"/>
              <a:buChar char="•"/>
            </a:pPr>
            <a:endParaRPr lang="en-US" sz="1100" dirty="0">
              <a:solidFill>
                <a:schemeClr val="dk1"/>
              </a:solidFill>
              <a:latin typeface="DM Serif Display"/>
              <a:ea typeface="DM Serif Display"/>
              <a:cs typeface="DM Serif Display"/>
              <a:sym typeface="DM Serif Display"/>
            </a:endParaRPr>
          </a:p>
          <a:p>
            <a:pPr marL="171450" lvl="0" indent="-171450">
              <a:buFont typeface="Arial" panose="020B0604020202020204" pitchFamily="34" charset="0"/>
              <a:buChar char="•"/>
            </a:pPr>
            <a:r>
              <a:rPr lang="en-US" sz="1100" dirty="0">
                <a:solidFill>
                  <a:schemeClr val="dk1"/>
                </a:solidFill>
                <a:latin typeface="DM Serif Display"/>
                <a:ea typeface="DM Serif Display"/>
                <a:cs typeface="DM Serif Display"/>
                <a:sym typeface="DM Serif Display"/>
              </a:rPr>
              <a:t>In‑patient Care (including AYUSH) is covered up to the Sum Insured. — Ensures comprehensive hospitalisation coverage for employees worldwide…</a:t>
            </a:r>
          </a:p>
          <a:p>
            <a:pPr marL="171450" lvl="0" indent="-171450">
              <a:buFont typeface="Arial" panose="020B0604020202020204" pitchFamily="34" charset="0"/>
              <a:buChar char="•"/>
            </a:pPr>
            <a:endParaRPr lang="en-US" sz="1100" dirty="0">
              <a:solidFill>
                <a:schemeClr val="dk1"/>
              </a:solidFill>
              <a:latin typeface="DM Serif Display"/>
              <a:ea typeface="DM Serif Display"/>
              <a:cs typeface="DM Serif Display"/>
              <a:sym typeface="DM Serif Display"/>
            </a:endParaRPr>
          </a:p>
          <a:p>
            <a:pPr marL="171450" lvl="0" indent="-171450">
              <a:buFont typeface="Arial" panose="020B0604020202020204" pitchFamily="34" charset="0"/>
              <a:buChar char="•"/>
            </a:pPr>
            <a:r>
              <a:rPr lang="en-US" sz="1100" dirty="0">
                <a:solidFill>
                  <a:schemeClr val="dk1"/>
                </a:solidFill>
                <a:latin typeface="DM Serif Display"/>
                <a:ea typeface="DM Serif Display"/>
                <a:cs typeface="DM Serif Display"/>
                <a:sym typeface="DM Serif Display"/>
              </a:rPr>
              <a:t>Additional policy detail requires advisor review.</a:t>
            </a:r>
          </a:p>
        </p:txBody>
      </p:sp>
      <p:sp>
        <p:nvSpPr>
          <p:cNvPr id="7" name="Google Shape;370;p42">
            <a:extLst>
              <a:ext uri="{FF2B5EF4-FFF2-40B4-BE49-F238E27FC236}">
                <a16:creationId xmlns:a16="http://schemas.microsoft.com/office/drawing/2014/main" id="{82A758F7-5060-122E-6587-948DA426C115}"/>
              </a:ext>
            </a:extLst>
          </p:cNvPr>
          <p:cNvSpPr txBox="1"/>
          <p:nvPr/>
        </p:nvSpPr>
        <p:spPr>
          <a:xfrm>
            <a:off x="4688995" y="460673"/>
            <a:ext cx="2084687" cy="397779"/>
          </a:xfrm>
          <a:prstGeom prst="rect">
            <a:avLst/>
          </a:prstGeom>
          <a:noFill/>
          <a:ln>
            <a:noFill/>
          </a:ln>
        </p:spPr>
        <p:txBody>
          <a:bodyPr spcFirstLastPara="1" wrap="square" lIns="0" tIns="6350" rIns="0" bIns="0" anchor="t" anchorCtr="0">
            <a:noAutofit/>
          </a:bodyPr>
          <a:lstStyle/>
          <a:p>
            <a:pPr lvl="0" algn="ctr"/>
            <a:r>
              <a:rPr lang="en-US" u="sng" dirty="0">
                <a:solidFill>
                  <a:schemeClr val="dk1"/>
                </a:solidFill>
                <a:latin typeface="DM Serif Display"/>
                <a:ea typeface="DM Serif Display"/>
                <a:cs typeface="DM Serif Display"/>
                <a:sym typeface="DM Serif Display"/>
              </a:rPr>
              <a:t>Policy Snapshot</a:t>
            </a:r>
            <a:endParaRPr lang="en-US" sz="1000" u="sng" dirty="0">
              <a:solidFill>
                <a:schemeClr val="dk1"/>
              </a:solidFill>
              <a:latin typeface="DM Serif Display"/>
              <a:ea typeface="DM Serif Display"/>
              <a:cs typeface="DM Serif Display"/>
              <a:sym typeface="DM Serif Display"/>
            </a:endParaRPr>
          </a:p>
        </p:txBody>
      </p:sp>
      <p:graphicFrame>
        <p:nvGraphicFramePr>
          <p:cNvPr id="11" name="Table 10">
            <a:extLst>
              <a:ext uri="{FF2B5EF4-FFF2-40B4-BE49-F238E27FC236}">
                <a16:creationId xmlns:a16="http://schemas.microsoft.com/office/drawing/2014/main" id="{84793108-101B-1686-204C-34675688CEDC}"/>
              </a:ext>
            </a:extLst>
          </p:cNvPr>
          <p:cNvGraphicFramePr>
            <a:graphicFrameLocks noGrp="1"/>
          </p:cNvGraphicFramePr>
          <p:nvPr>
            <p:extLst>
              <p:ext uri="{D42A27DB-BD31-4B8C-83A1-F6EECF244321}">
                <p14:modId xmlns:p14="http://schemas.microsoft.com/office/powerpoint/2010/main" val="3669187284"/>
              </p:ext>
            </p:extLst>
          </p:nvPr>
        </p:nvGraphicFramePr>
        <p:xfrm>
          <a:off x="5731339" y="873877"/>
          <a:ext cx="2483393" cy="2225040"/>
        </p:xfrm>
        <a:graphic>
          <a:graphicData uri="http://schemas.openxmlformats.org/drawingml/2006/table">
            <a:tbl>
              <a:tblPr firstRow="1" bandRow="1">
                <a:tableStyleId>{9D7B26C5-4107-4FEC-AEDC-1716B250A1EF}</a:tableStyleId>
              </a:tblPr>
              <a:tblGrid>
                <a:gridCol w="2483393">
                  <a:extLst>
                    <a:ext uri="{9D8B030D-6E8A-4147-A177-3AD203B41FA5}">
                      <a16:colId xmlns:a16="http://schemas.microsoft.com/office/drawing/2014/main" val="1868825370"/>
                    </a:ext>
                  </a:extLst>
                </a:gridCol>
              </a:tblGrid>
              <a:tr h="370840">
                <a:tc>
                  <a:txBody>
                    <a:bodyPr/>
                    <a:lstStyle/>
                    <a:p>
                      <a:r>
                        <a:rPr lang="en-IN" sz="1050" b="0" dirty="0">
                          <a:latin typeface="DM Serif Display" pitchFamily="2" charset="0"/>
                        </a:rPr>
                        <a:t>Not established in supplied policy evidence</a:t>
                      </a:r>
                    </a:p>
                  </a:txBody>
                  <a:tcP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15871084"/>
                  </a:ext>
                </a:extLst>
              </a:tr>
              <a:tr h="370840">
                <a:tc>
                  <a:txBody>
                    <a:bodyPr/>
                    <a:lstStyle/>
                    <a:p>
                      <a:r>
                        <a:rPr lang="en-IN" sz="1050" dirty="0">
                          <a:latin typeface="DM Serif Display" pitchFamily="2" charset="0"/>
                        </a:rPr>
                        <a:t>Not established in supplied policy evidence</a:t>
                      </a:r>
                    </a:p>
                  </a:txBody>
                  <a:tcPr>
                    <a:lnT w="12700" cmpd="sng">
                      <a:noFill/>
                    </a:lnT>
                  </a:tcPr>
                </a:tc>
                <a:extLst>
                  <a:ext uri="{0D108BD9-81ED-4DB2-BD59-A6C34878D82A}">
                    <a16:rowId xmlns:a16="http://schemas.microsoft.com/office/drawing/2014/main" val="2901444809"/>
                  </a:ext>
                </a:extLst>
              </a:tr>
              <a:tr h="370840">
                <a:tc>
                  <a:txBody>
                    <a:bodyPr/>
                    <a:lstStyle/>
                    <a:p>
                      <a:r>
                        <a:rPr lang="en-IN" sz="1050" dirty="0">
                          <a:latin typeface="DM Serif Display" pitchFamily="2" charset="0"/>
                        </a:rPr>
                        <a:t>Not established in supplied policy evidence</a:t>
                      </a:r>
                    </a:p>
                  </a:txBody>
                  <a:tcPr/>
                </a:tc>
                <a:extLst>
                  <a:ext uri="{0D108BD9-81ED-4DB2-BD59-A6C34878D82A}">
                    <a16:rowId xmlns:a16="http://schemas.microsoft.com/office/drawing/2014/main" val="1183425457"/>
                  </a:ext>
                </a:extLst>
              </a:tr>
              <a:tr h="370840">
                <a:tc>
                  <a:txBody>
                    <a:bodyPr/>
                    <a:lstStyle/>
                    <a:p>
                      <a:r>
                        <a:rPr lang="en-IN" sz="1050" dirty="0">
                          <a:latin typeface="DM Serif Display" pitchFamily="2" charset="0"/>
                        </a:rPr>
                        <a:t>Not established in supplied policy evidence</a:t>
                      </a:r>
                    </a:p>
                  </a:txBody>
                  <a:tcPr/>
                </a:tc>
                <a:extLst>
                  <a:ext uri="{0D108BD9-81ED-4DB2-BD59-A6C34878D82A}">
                    <a16:rowId xmlns:a16="http://schemas.microsoft.com/office/drawing/2014/main" val="2779695241"/>
                  </a:ext>
                </a:extLst>
              </a:tr>
              <a:tr h="370840">
                <a:tc>
                  <a:txBody>
                    <a:bodyPr/>
                    <a:lstStyle/>
                    <a:p>
                      <a:r>
                        <a:rPr lang="en-IN" sz="1050" dirty="0">
                          <a:latin typeface="DM Serif Display" pitchFamily="2" charset="0"/>
                        </a:rPr>
                        <a:t>Not established in supplied policy evidence</a:t>
                      </a:r>
                    </a:p>
                  </a:txBody>
                  <a:tcPr/>
                </a:tc>
                <a:extLst>
                  <a:ext uri="{0D108BD9-81ED-4DB2-BD59-A6C34878D82A}">
                    <a16:rowId xmlns:a16="http://schemas.microsoft.com/office/drawing/2014/main" val="2094669771"/>
                  </a:ext>
                </a:extLst>
              </a:tr>
              <a:tr h="370840">
                <a:tc>
                  <a:txBody>
                    <a:bodyPr/>
                    <a:lstStyle/>
                    <a:p>
                      <a:r>
                        <a:rPr lang="en-IN" sz="1050" dirty="0">
                          <a:latin typeface="DM Serif Display" pitchFamily="2" charset="0"/>
                        </a:rPr>
                        <a:t>Air Ambulance is covered up to INR 2,50,000 per Hospitalisation.</a:t>
                      </a:r>
                    </a:p>
                  </a:txBody>
                  <a:tcPr/>
                </a:tc>
                <a:extLst>
                  <a:ext uri="{0D108BD9-81ED-4DB2-BD59-A6C34878D82A}">
                    <a16:rowId xmlns:a16="http://schemas.microsoft.com/office/drawing/2014/main" val="89941346"/>
                  </a:ext>
                </a:extLst>
              </a:tr>
            </a:tbl>
          </a:graphicData>
        </a:graphic>
      </p:graphicFrame>
      <p:sp>
        <p:nvSpPr>
          <p:cNvPr id="19" name="Google Shape;374;p42">
            <a:extLst>
              <a:ext uri="{FF2B5EF4-FFF2-40B4-BE49-F238E27FC236}">
                <a16:creationId xmlns:a16="http://schemas.microsoft.com/office/drawing/2014/main" id="{858876B2-8C21-327D-ADF3-949DAC37100E}"/>
              </a:ext>
            </a:extLst>
          </p:cNvPr>
          <p:cNvSpPr txBox="1"/>
          <p:nvPr/>
        </p:nvSpPr>
        <p:spPr>
          <a:xfrm>
            <a:off x="4342123" y="1953683"/>
            <a:ext cx="1197831" cy="487800"/>
          </a:xfrm>
          <a:prstGeom prst="rect">
            <a:avLst/>
          </a:prstGeom>
          <a:noFill/>
          <a:ln>
            <a:noFill/>
          </a:ln>
        </p:spPr>
        <p:txBody>
          <a:bodyPr spcFirstLastPara="1" wrap="square" lIns="0" tIns="6350" rIns="0" bIns="0" anchor="ctr" anchorCtr="0">
            <a:noAutofit/>
          </a:bodyPr>
          <a:lstStyle/>
          <a:p>
            <a:pPr marL="0" marR="0" lvl="0" indent="0" algn="r" rtl="0">
              <a:lnSpc>
                <a:spcPct val="100000"/>
              </a:lnSpc>
              <a:spcBef>
                <a:spcPts val="0"/>
              </a:spcBef>
              <a:spcAft>
                <a:spcPts val="0"/>
              </a:spcAft>
              <a:buNone/>
            </a:pPr>
            <a:r>
              <a:rPr lang="en-IN" sz="1200" dirty="0">
                <a:solidFill>
                  <a:schemeClr val="dk1"/>
                </a:solidFill>
                <a:latin typeface="DM Serif Display"/>
                <a:ea typeface="DM Serif Display"/>
                <a:cs typeface="DM Serif Display"/>
                <a:sym typeface="DM Serif Display"/>
              </a:rPr>
              <a:t>Hospitalisation</a:t>
            </a:r>
            <a:endParaRPr sz="900" dirty="0">
              <a:solidFill>
                <a:schemeClr val="dk1"/>
              </a:solidFill>
              <a:latin typeface="DM Serif Display"/>
              <a:ea typeface="DM Serif Display"/>
              <a:cs typeface="DM Serif Display"/>
              <a:sym typeface="DM Serif Display"/>
            </a:endParaRPr>
          </a:p>
        </p:txBody>
      </p:sp>
      <p:sp>
        <p:nvSpPr>
          <p:cNvPr id="21" name="Google Shape;375;p42">
            <a:extLst>
              <a:ext uri="{FF2B5EF4-FFF2-40B4-BE49-F238E27FC236}">
                <a16:creationId xmlns:a16="http://schemas.microsoft.com/office/drawing/2014/main" id="{33A5B928-A110-EBC8-A648-BFA2113A7C7F}"/>
              </a:ext>
            </a:extLst>
          </p:cNvPr>
          <p:cNvSpPr txBox="1"/>
          <p:nvPr/>
        </p:nvSpPr>
        <p:spPr>
          <a:xfrm>
            <a:off x="4252913" y="2315999"/>
            <a:ext cx="1287041" cy="487800"/>
          </a:xfrm>
          <a:prstGeom prst="rect">
            <a:avLst/>
          </a:prstGeom>
          <a:noFill/>
          <a:ln>
            <a:noFill/>
          </a:ln>
        </p:spPr>
        <p:txBody>
          <a:bodyPr spcFirstLastPara="1" wrap="square" lIns="0" tIns="6350" rIns="0" bIns="0" anchor="ctr" anchorCtr="0">
            <a:noAutofit/>
          </a:bodyPr>
          <a:lstStyle/>
          <a:p>
            <a:pPr marL="0" marR="0" lvl="0" indent="0" algn="r" rtl="0">
              <a:lnSpc>
                <a:spcPct val="100000"/>
              </a:lnSpc>
              <a:spcBef>
                <a:spcPts val="0"/>
              </a:spcBef>
              <a:spcAft>
                <a:spcPts val="0"/>
              </a:spcAft>
              <a:buNone/>
            </a:pPr>
            <a:r>
              <a:rPr lang="en-IN" sz="1200" dirty="0">
                <a:solidFill>
                  <a:schemeClr val="dk1"/>
                </a:solidFill>
                <a:latin typeface="DM Serif Display"/>
                <a:ea typeface="DM Serif Display"/>
                <a:cs typeface="DM Serif Display"/>
                <a:sym typeface="DM Serif Display"/>
              </a:rPr>
              <a:t>Waiting Period</a:t>
            </a:r>
            <a:endParaRPr sz="900" dirty="0">
              <a:solidFill>
                <a:schemeClr val="dk1"/>
              </a:solidFill>
              <a:latin typeface="DM Serif Display"/>
              <a:ea typeface="DM Serif Display"/>
              <a:cs typeface="DM Serif Display"/>
              <a:sym typeface="DM Serif Display"/>
            </a:endParaRPr>
          </a:p>
        </p:txBody>
      </p:sp>
      <p:sp>
        <p:nvSpPr>
          <p:cNvPr id="23" name="Google Shape;376;p42">
            <a:extLst>
              <a:ext uri="{FF2B5EF4-FFF2-40B4-BE49-F238E27FC236}">
                <a16:creationId xmlns:a16="http://schemas.microsoft.com/office/drawing/2014/main" id="{8A2091D4-20EC-6649-55E6-BD9E68741C6E}"/>
              </a:ext>
            </a:extLst>
          </p:cNvPr>
          <p:cNvSpPr txBox="1"/>
          <p:nvPr/>
        </p:nvSpPr>
        <p:spPr>
          <a:xfrm>
            <a:off x="3985284" y="2737486"/>
            <a:ext cx="1554670" cy="487800"/>
          </a:xfrm>
          <a:prstGeom prst="rect">
            <a:avLst/>
          </a:prstGeom>
          <a:noFill/>
          <a:ln>
            <a:noFill/>
          </a:ln>
        </p:spPr>
        <p:txBody>
          <a:bodyPr spcFirstLastPara="1" wrap="square" lIns="0" tIns="6350" rIns="0" bIns="0" anchor="ctr" anchorCtr="0">
            <a:noAutofit/>
          </a:bodyPr>
          <a:lstStyle/>
          <a:p>
            <a:pPr marL="0" marR="0" lvl="0" indent="0" algn="r" rtl="0">
              <a:lnSpc>
                <a:spcPct val="100000"/>
              </a:lnSpc>
              <a:spcBef>
                <a:spcPts val="0"/>
              </a:spcBef>
              <a:spcAft>
                <a:spcPts val="0"/>
              </a:spcAft>
              <a:buNone/>
            </a:pPr>
            <a:r>
              <a:rPr lang="en-IN" sz="1200" dirty="0">
                <a:solidFill>
                  <a:schemeClr val="dk1"/>
                </a:solidFill>
                <a:latin typeface="DM Serif Display"/>
                <a:ea typeface="DM Serif Display"/>
                <a:cs typeface="DM Serif Display"/>
                <a:sym typeface="DM Serif Display"/>
              </a:rPr>
              <a:t>Other Key Benefit</a:t>
            </a:r>
            <a:endParaRPr sz="900" dirty="0">
              <a:solidFill>
                <a:schemeClr val="dk1"/>
              </a:solidFill>
              <a:latin typeface="DM Serif Display"/>
              <a:ea typeface="DM Serif Display"/>
              <a:cs typeface="DM Serif Display"/>
              <a:sym typeface="DM Serif Display"/>
            </a:endParaRPr>
          </a:p>
        </p:txBody>
      </p:sp>
      <p:sp>
        <p:nvSpPr>
          <p:cNvPr id="27" name="Google Shape;370;p42">
            <a:extLst>
              <a:ext uri="{FF2B5EF4-FFF2-40B4-BE49-F238E27FC236}">
                <a16:creationId xmlns:a16="http://schemas.microsoft.com/office/drawing/2014/main" id="{EE5C4CB3-77AB-8D11-B881-103245DB7798}"/>
              </a:ext>
            </a:extLst>
          </p:cNvPr>
          <p:cNvSpPr txBox="1"/>
          <p:nvPr/>
        </p:nvSpPr>
        <p:spPr>
          <a:xfrm>
            <a:off x="304926" y="3527786"/>
            <a:ext cx="2084687" cy="397779"/>
          </a:xfrm>
          <a:prstGeom prst="rect">
            <a:avLst/>
          </a:prstGeom>
          <a:noFill/>
          <a:ln>
            <a:noFill/>
          </a:ln>
        </p:spPr>
        <p:txBody>
          <a:bodyPr spcFirstLastPara="1" wrap="square" lIns="0" tIns="6350" rIns="0" bIns="0" anchor="t" anchorCtr="0">
            <a:noAutofit/>
          </a:bodyPr>
          <a:lstStyle/>
          <a:p>
            <a:pPr lvl="0" algn="ctr"/>
            <a:r>
              <a:rPr lang="en-US" u="sng">
                <a:solidFill>
                  <a:schemeClr val="dk1"/>
                </a:solidFill>
                <a:latin typeface="DM Serif Display"/>
                <a:ea typeface="DM Serif Display"/>
                <a:cs typeface="DM Serif Display"/>
                <a:sym typeface="DM Serif Display"/>
              </a:rPr>
              <a:t>Workforce Relevance</a:t>
            </a:r>
            <a:endParaRPr lang="en-US" sz="1000" u="sng" dirty="0">
              <a:solidFill>
                <a:schemeClr val="dk1"/>
              </a:solidFill>
              <a:latin typeface="DM Serif Display"/>
              <a:ea typeface="DM Serif Display"/>
              <a:cs typeface="DM Serif Display"/>
              <a:sym typeface="DM Serif Display"/>
            </a:endParaRPr>
          </a:p>
        </p:txBody>
      </p:sp>
      <p:sp>
        <p:nvSpPr>
          <p:cNvPr id="29" name="TextBox 28">
            <a:extLst>
              <a:ext uri="{FF2B5EF4-FFF2-40B4-BE49-F238E27FC236}">
                <a16:creationId xmlns:a16="http://schemas.microsoft.com/office/drawing/2014/main" id="{6F9441F3-A606-828A-2637-BEC88EB92F2A}"/>
              </a:ext>
            </a:extLst>
          </p:cNvPr>
          <p:cNvSpPr txBox="1"/>
          <p:nvPr/>
        </p:nvSpPr>
        <p:spPr>
          <a:xfrm>
            <a:off x="198052" y="3768390"/>
            <a:ext cx="8559372" cy="577081"/>
          </a:xfrm>
          <a:prstGeom prst="rect">
            <a:avLst/>
          </a:prstGeom>
          <a:noFill/>
        </p:spPr>
        <p:txBody>
          <a:bodyPr wrap="square">
            <a:spAutoFit/>
          </a:bodyPr>
          <a:lstStyle/>
          <a:p>
            <a:pPr lvl="0"/>
            <a:r>
              <a:rPr lang="en-US" sz="1050" dirty="0">
                <a:solidFill>
                  <a:schemeClr val="dk1"/>
                </a:solidFill>
                <a:latin typeface="DM Serif Display"/>
                <a:ea typeface="DM Serif Display"/>
                <a:cs typeface="DM Serif Display"/>
                <a:sym typeface="DM Serif Display"/>
              </a:rPr>
              <a:t>Manufacturing / automotive… → Air Ambulance coverage and in‑patient care (including AYUSH) directly address these needs.
Flexible, temporary, and… → Air Ambulance coverage and in‑patient care (including AYUSH) directly address these needs.
Global workforce across… → Air Ambulance coverage and in‑patient care (including AYUSH) directly address these needs.</a:t>
            </a:r>
          </a:p>
          <a:p>
            <a:pPr lvl="0"/>
            <a:r>
              <a:rPr lang="en-US" sz="1050" dirty="0">
                <a:solidFill>
                  <a:schemeClr val="dk1"/>
                </a:solidFill>
                <a:latin typeface="DM Serif Display"/>
                <a:ea typeface="DM Serif Display"/>
                <a:cs typeface="DM Serif Display"/>
                <a:sym typeface="DM Serif Display"/>
              </a:rPr>
              <a:t/>
            </a:r>
          </a:p>
          <a:p>
            <a:pPr lvl="0"/>
            <a:r>
              <a:rPr lang="en-US" sz="1050" dirty="0">
                <a:solidFill>
                  <a:schemeClr val="dk1"/>
                </a:solidFill>
                <a:latin typeface="DM Serif Display"/>
                <a:ea typeface="DM Serif Display"/>
                <a:cs typeface="DM Serif Display"/>
                <a:sym typeface="DM Serif Display"/>
              </a:rPr>
              <a:t/>
            </a:r>
          </a:p>
        </p:txBody>
      </p:sp>
      <p:sp>
        <p:nvSpPr>
          <p:cNvPr id="31" name="Google Shape;490;p47">
            <a:extLst>
              <a:ext uri="{FF2B5EF4-FFF2-40B4-BE49-F238E27FC236}">
                <a16:creationId xmlns:a16="http://schemas.microsoft.com/office/drawing/2014/main" id="{4DBBA67A-D721-6232-7F03-CC8980958729}"/>
              </a:ext>
            </a:extLst>
          </p:cNvPr>
          <p:cNvSpPr/>
          <p:nvPr/>
        </p:nvSpPr>
        <p:spPr>
          <a:xfrm>
            <a:off x="304926" y="237892"/>
            <a:ext cx="8119074" cy="3289893"/>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TextBox 32">
            <a:extLst>
              <a:ext uri="{FF2B5EF4-FFF2-40B4-BE49-F238E27FC236}">
                <a16:creationId xmlns:a16="http://schemas.microsoft.com/office/drawing/2014/main" id="{207621D8-BC55-658C-F710-6C9C98443671}"/>
              </a:ext>
            </a:extLst>
          </p:cNvPr>
          <p:cNvSpPr txBox="1"/>
          <p:nvPr/>
        </p:nvSpPr>
        <p:spPr>
          <a:xfrm>
            <a:off x="5352586" y="4645430"/>
            <a:ext cx="3623099" cy="338554"/>
          </a:xfrm>
          <a:prstGeom prst="rect">
            <a:avLst/>
          </a:prstGeom>
          <a:noFill/>
        </p:spPr>
        <p:txBody>
          <a:bodyPr wrap="square">
            <a:spAutoFit/>
          </a:bodyPr>
          <a:lstStyle/>
          <a:p>
            <a:pPr lvl="0" algn="ctr"/>
            <a:r>
              <a:rPr lang="en-US" sz="800" dirty="0">
                <a:solidFill>
                  <a:schemeClr val="tx1">
                    <a:lumMod val="60000"/>
                    <a:lumOff val="40000"/>
                  </a:schemeClr>
                </a:solidFill>
                <a:latin typeface="DM Serif Display"/>
                <a:ea typeface="DM Serif Display"/>
                <a:cs typeface="DM Serif Display"/>
                <a:sym typeface="DM Serif Display"/>
              </a:rPr>
              <a:t>INSUREAI recommendation based on documented policy evidence and identified client needs. Final selection remains with the client and advisor.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4" name="Google Shape;584;p50"/>
          <p:cNvSpPr/>
          <p:nvPr/>
        </p:nvSpPr>
        <p:spPr>
          <a:xfrm>
            <a:off x="1582900" y="3873225"/>
            <a:ext cx="1327800" cy="1341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87" name="Google Shape;587;p50"/>
          <p:cNvPicPr preferRelativeResize="0"/>
          <p:nvPr/>
        </p:nvPicPr>
        <p:blipFill>
          <a:blip r:embed="rId3">
            <a:alphaModFix/>
          </a:blip>
          <a:srcRect l="22507" r="22507"/>
          <a:stretch/>
        </p:blipFill>
        <p:spPr>
          <a:xfrm>
            <a:off x="267629" y="1346350"/>
            <a:ext cx="8579005" cy="3258201"/>
          </a:xfrm>
          <a:prstGeom prst="rect">
            <a:avLst/>
          </a:prstGeom>
          <a:blipFill>
            <a:blip r:embed="rId3"/>
            <a:stretch>
              <a:fillRect/>
            </a:stretch>
          </a:blipFill>
          <a:ln>
            <a:noFill/>
          </a:ln>
        </p:spPr>
      </p:pic>
      <p:sp>
        <p:nvSpPr>
          <p:cNvPr id="588" name="Google Shape;588;p50"/>
          <p:cNvSpPr txBox="1"/>
          <p:nvPr/>
        </p:nvSpPr>
        <p:spPr>
          <a:xfrm>
            <a:off x="438747" y="1898326"/>
            <a:ext cx="1917877" cy="1493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p>
          <a:p>
            <a:pPr marL="0" lvl="0" indent="0" rtl="0">
              <a:spcBef>
                <a:spcPts val="0"/>
              </a:spcBef>
              <a:spcAft>
                <a:spcPts val="0"/>
              </a:spcAft>
              <a:buNone/>
            </a:pPr>
            <a:endParaRPr lang="en-US" sz="1000" dirty="0">
              <a:solidFill>
                <a:schemeClr val="lt1"/>
              </a:solidFill>
              <a:latin typeface="Open Sans Light"/>
              <a:ea typeface="Open Sans Light"/>
              <a:cs typeface="Open Sans Light"/>
              <a:sym typeface="Open Sans Light"/>
            </a:endParaRP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p>
          <a:p>
            <a:pPr marL="0" lvl="0" indent="0" rtl="0">
              <a:spcBef>
                <a:spcPts val="0"/>
              </a:spcBef>
              <a:spcAft>
                <a:spcPts val="0"/>
              </a:spcAft>
              <a:buNone/>
            </a:pPr>
            <a:endParaRPr lang="en-US" sz="1000" dirty="0">
              <a:solidFill>
                <a:schemeClr val="lt1"/>
              </a:solidFill>
              <a:latin typeface="Open Sans Light"/>
              <a:ea typeface="Open Sans Light"/>
              <a:cs typeface="Open Sans Light"/>
              <a:sym typeface="Open Sans Light"/>
            </a:endParaRP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p>
          <a:p>
            <a:pPr marL="0" lvl="0" indent="0" rtl="0">
              <a:spcBef>
                <a:spcPts val="0"/>
              </a:spcBef>
              <a:spcAft>
                <a:spcPts val="0"/>
              </a:spcAft>
              <a:buNone/>
            </a:pPr>
            <a:endParaRPr lang="en-US" sz="1000" dirty="0">
              <a:solidFill>
                <a:schemeClr val="lt1"/>
              </a:solidFill>
              <a:latin typeface="Open Sans Light"/>
              <a:ea typeface="Open Sans Light"/>
              <a:cs typeface="Open Sans Light"/>
              <a:sym typeface="Open Sans Light"/>
            </a:endParaRP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endParaRPr sz="1000" dirty="0">
              <a:solidFill>
                <a:schemeClr val="lt1"/>
              </a:solidFill>
              <a:latin typeface="Open Sans Light"/>
              <a:ea typeface="Open Sans Light"/>
              <a:cs typeface="Open Sans Light"/>
              <a:sym typeface="Open Sans Light"/>
            </a:endParaRPr>
          </a:p>
        </p:txBody>
      </p:sp>
      <p:sp>
        <p:nvSpPr>
          <p:cNvPr id="589" name="Google Shape;589;p50"/>
          <p:cNvSpPr txBox="1"/>
          <p:nvPr/>
        </p:nvSpPr>
        <p:spPr>
          <a:xfrm>
            <a:off x="354618" y="1416825"/>
            <a:ext cx="1228282" cy="481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IN" dirty="0">
                <a:solidFill>
                  <a:schemeClr val="lt1"/>
                </a:solidFill>
                <a:latin typeface="DM Serif Display"/>
                <a:ea typeface="DM Serif Display"/>
                <a:cs typeface="DM Serif Display"/>
                <a:sym typeface="DM Serif Display"/>
              </a:rPr>
              <a:t>HDFC ERGO</a:t>
            </a:r>
            <a:endParaRPr dirty="0">
              <a:solidFill>
                <a:schemeClr val="lt1"/>
              </a:solidFill>
              <a:latin typeface="DM Serif Display"/>
              <a:ea typeface="DM Serif Display"/>
              <a:cs typeface="DM Serif Display"/>
              <a:sym typeface="DM Serif Display"/>
            </a:endParaRPr>
          </a:p>
        </p:txBody>
      </p:sp>
      <p:sp>
        <p:nvSpPr>
          <p:cNvPr id="590" name="Google Shape;590;p50"/>
          <p:cNvSpPr txBox="1">
            <a:spLocks noGrp="1"/>
          </p:cNvSpPr>
          <p:nvPr>
            <p:ph type="ctrTitle"/>
          </p:nvPr>
        </p:nvSpPr>
        <p:spPr>
          <a:xfrm>
            <a:off x="723600" y="470625"/>
            <a:ext cx="2101376" cy="946200"/>
          </a:xfrm>
          <a:prstGeom prst="rect">
            <a:avLst/>
          </a:prstGeom>
        </p:spPr>
        <p:txBody>
          <a:bodyPr spcFirstLastPara="1" wrap="square" lIns="91425" tIns="91425" rIns="91425" bIns="91425" anchor="t" anchorCtr="0">
            <a:noAutofit/>
          </a:bodyPr>
          <a:lstStyle/>
          <a:p>
            <a:pPr lvl="0"/>
            <a:r>
              <a:rPr lang="en-IN" dirty="0"/>
              <a:t>Other Policies Considered</a:t>
            </a:r>
            <a:endParaRPr dirty="0"/>
          </a:p>
        </p:txBody>
      </p:sp>
      <p:sp>
        <p:nvSpPr>
          <p:cNvPr id="17" name="Google Shape;588;p50">
            <a:extLst>
              <a:ext uri="{FF2B5EF4-FFF2-40B4-BE49-F238E27FC236}">
                <a16:creationId xmlns:a16="http://schemas.microsoft.com/office/drawing/2014/main" id="{FD4000FC-744F-C6E5-99C4-150826198F47}"/>
              </a:ext>
            </a:extLst>
          </p:cNvPr>
          <p:cNvSpPr txBox="1"/>
          <p:nvPr/>
        </p:nvSpPr>
        <p:spPr>
          <a:xfrm>
            <a:off x="3750933" y="1898325"/>
            <a:ext cx="1917877" cy="1493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Hospitalisation Expenses cover medical expenses incurred at the time of…</a:t>
            </a:r>
          </a:p>
          <a:p>
            <a:pPr marL="0" lvl="0" indent="0" rtl="0">
              <a:spcBef>
                <a:spcPts val="0"/>
              </a:spcBef>
              <a:spcAft>
                <a:spcPts val="0"/>
              </a:spcAft>
              <a:buNone/>
            </a:pPr>
            <a:endParaRPr lang="en-US" sz="1000" dirty="0">
              <a:solidFill>
                <a:schemeClr val="lt1"/>
              </a:solidFill>
              <a:latin typeface="Open Sans Light"/>
              <a:ea typeface="Open Sans Light"/>
              <a:cs typeface="Open Sans Light"/>
              <a:sym typeface="Open Sans Light"/>
            </a:endParaRP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p>
          <a:p>
            <a:pPr marL="0" lvl="0" indent="0" rtl="0">
              <a:spcBef>
                <a:spcPts val="0"/>
              </a:spcBef>
              <a:spcAft>
                <a:spcPts val="0"/>
              </a:spcAft>
              <a:buNone/>
            </a:pPr>
            <a:endParaRPr lang="en-US" sz="1000" dirty="0">
              <a:solidFill>
                <a:schemeClr val="lt1"/>
              </a:solidFill>
              <a:latin typeface="Open Sans Light"/>
              <a:ea typeface="Open Sans Light"/>
              <a:cs typeface="Open Sans Light"/>
              <a:sym typeface="Open Sans Light"/>
            </a:endParaRP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p>
          <a:p>
            <a:pPr marL="0" lvl="0" indent="0" rtl="0">
              <a:spcBef>
                <a:spcPts val="0"/>
              </a:spcBef>
              <a:spcAft>
                <a:spcPts val="0"/>
              </a:spcAft>
              <a:buNone/>
            </a:pPr>
            <a:endParaRPr lang="en-US" sz="1000" dirty="0">
              <a:solidFill>
                <a:schemeClr val="lt1"/>
              </a:solidFill>
              <a:latin typeface="Open Sans Light"/>
              <a:ea typeface="Open Sans Light"/>
              <a:cs typeface="Open Sans Light"/>
              <a:sym typeface="Open Sans Light"/>
            </a:endParaRP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endParaRPr sz="1000" dirty="0">
              <a:solidFill>
                <a:schemeClr val="lt1"/>
              </a:solidFill>
              <a:latin typeface="Open Sans Light"/>
              <a:ea typeface="Open Sans Light"/>
              <a:cs typeface="Open Sans Light"/>
              <a:sym typeface="Open Sans Light"/>
            </a:endParaRPr>
          </a:p>
        </p:txBody>
      </p:sp>
      <p:sp>
        <p:nvSpPr>
          <p:cNvPr id="19" name="Google Shape;589;p50">
            <a:extLst>
              <a:ext uri="{FF2B5EF4-FFF2-40B4-BE49-F238E27FC236}">
                <a16:creationId xmlns:a16="http://schemas.microsoft.com/office/drawing/2014/main" id="{954C4E15-6D9F-7F19-6A5D-59CF996DDD15}"/>
              </a:ext>
            </a:extLst>
          </p:cNvPr>
          <p:cNvSpPr txBox="1"/>
          <p:nvPr/>
        </p:nvSpPr>
        <p:spPr>
          <a:xfrm>
            <a:off x="3666804" y="1416824"/>
            <a:ext cx="1228282" cy="481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IN" dirty="0">
                <a:solidFill>
                  <a:schemeClr val="lt1"/>
                </a:solidFill>
                <a:latin typeface="DM Serif Display"/>
                <a:ea typeface="DM Serif Display"/>
                <a:cs typeface="DM Serif Display"/>
                <a:sym typeface="DM Serif Display"/>
              </a:rPr>
              <a:t/>
            </a:r>
            <a:endParaRPr dirty="0">
              <a:solidFill>
                <a:schemeClr val="lt1"/>
              </a:solidFill>
              <a:latin typeface="DM Serif Display"/>
              <a:ea typeface="DM Serif Display"/>
              <a:cs typeface="DM Serif Display"/>
              <a:sym typeface="DM Serif Display"/>
            </a:endParaRPr>
          </a:p>
        </p:txBody>
      </p:sp>
      <p:sp>
        <p:nvSpPr>
          <p:cNvPr id="21" name="Google Shape;588;p50">
            <a:extLst>
              <a:ext uri="{FF2B5EF4-FFF2-40B4-BE49-F238E27FC236}">
                <a16:creationId xmlns:a16="http://schemas.microsoft.com/office/drawing/2014/main" id="{16525ED7-CBAF-B778-ABAE-977528979821}"/>
              </a:ext>
            </a:extLst>
          </p:cNvPr>
          <p:cNvSpPr txBox="1"/>
          <p:nvPr/>
        </p:nvSpPr>
        <p:spPr>
          <a:xfrm>
            <a:off x="6594767" y="1898325"/>
            <a:ext cx="1917877" cy="14934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Preventive Health Check‑up benefits are provided post completion of every policy year…</a:t>
            </a:r>
          </a:p>
          <a:p>
            <a:pPr marL="0" lvl="0" indent="0" rtl="0">
              <a:spcBef>
                <a:spcPts val="0"/>
              </a:spcBef>
              <a:spcAft>
                <a:spcPts val="0"/>
              </a:spcAft>
              <a:buNone/>
            </a:pPr>
            <a:endParaRPr lang="en-US" sz="1000" dirty="0">
              <a:solidFill>
                <a:schemeClr val="lt1"/>
              </a:solidFill>
              <a:latin typeface="Open Sans Light"/>
              <a:ea typeface="Open Sans Light"/>
              <a:cs typeface="Open Sans Light"/>
              <a:sym typeface="Open Sans Light"/>
            </a:endParaRP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p>
          <a:p>
            <a:pPr marL="0" lvl="0" indent="0" rtl="0">
              <a:spcBef>
                <a:spcPts val="0"/>
              </a:spcBef>
              <a:spcAft>
                <a:spcPts val="0"/>
              </a:spcAft>
              <a:buNone/>
            </a:pPr>
            <a:endParaRPr lang="en-US" sz="1000" dirty="0">
              <a:solidFill>
                <a:schemeClr val="lt1"/>
              </a:solidFill>
              <a:latin typeface="Open Sans Light"/>
              <a:ea typeface="Open Sans Light"/>
              <a:cs typeface="Open Sans Light"/>
              <a:sym typeface="Open Sans Light"/>
            </a:endParaRP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p>
          <a:p>
            <a:pPr marL="0" lvl="0" indent="0" rtl="0">
              <a:spcBef>
                <a:spcPts val="0"/>
              </a:spcBef>
              <a:spcAft>
                <a:spcPts val="0"/>
              </a:spcAft>
              <a:buNone/>
            </a:pPr>
            <a:endParaRPr lang="en-US" sz="1000" dirty="0">
              <a:solidFill>
                <a:schemeClr val="lt1"/>
              </a:solidFill>
              <a:latin typeface="Open Sans Light"/>
              <a:ea typeface="Open Sans Light"/>
              <a:cs typeface="Open Sans Light"/>
              <a:sym typeface="Open Sans Light"/>
            </a:endParaRPr>
          </a:p>
          <a:p>
            <a:pPr marL="0" lvl="0" indent="0" rtl="0">
              <a:spcBef>
                <a:spcPts val="0"/>
              </a:spcBef>
              <a:spcAft>
                <a:spcPts val="0"/>
              </a:spcAft>
              <a:buNone/>
            </a:pPr>
            <a:r>
              <a:rPr lang="en-US" sz="1000" dirty="0">
                <a:solidFill>
                  <a:schemeClr val="lt1"/>
                </a:solidFill>
                <a:latin typeface="Open Sans Light"/>
                <a:ea typeface="Open Sans Light"/>
                <a:cs typeface="Open Sans Light"/>
                <a:sym typeface="Open Sans Light"/>
              </a:rPr>
              <a:t/>
            </a:r>
            <a:endParaRPr sz="1000" dirty="0">
              <a:solidFill>
                <a:schemeClr val="lt1"/>
              </a:solidFill>
              <a:latin typeface="Open Sans Light"/>
              <a:ea typeface="Open Sans Light"/>
              <a:cs typeface="Open Sans Light"/>
              <a:sym typeface="Open Sans Light"/>
            </a:endParaRPr>
          </a:p>
        </p:txBody>
      </p:sp>
      <p:sp>
        <p:nvSpPr>
          <p:cNvPr id="23" name="Google Shape;589;p50">
            <a:extLst>
              <a:ext uri="{FF2B5EF4-FFF2-40B4-BE49-F238E27FC236}">
                <a16:creationId xmlns:a16="http://schemas.microsoft.com/office/drawing/2014/main" id="{C565AD2A-A0EB-62DA-C272-BA787761DB73}"/>
              </a:ext>
            </a:extLst>
          </p:cNvPr>
          <p:cNvSpPr txBox="1"/>
          <p:nvPr/>
        </p:nvSpPr>
        <p:spPr>
          <a:xfrm>
            <a:off x="6510638" y="1416824"/>
            <a:ext cx="1228282" cy="4815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IN" dirty="0">
                <a:solidFill>
                  <a:schemeClr val="lt1"/>
                </a:solidFill>
                <a:latin typeface="DM Serif Display"/>
                <a:ea typeface="DM Serif Display"/>
                <a:cs typeface="DM Serif Display"/>
                <a:sym typeface="DM Serif Display"/>
              </a:rPr>
              <a:t/>
            </a:r>
            <a:r>
              <a:rPr lang="en-IN">
                <a:solidFill>
                  <a:schemeClr val="lt1"/>
                </a:solidFill>
                <a:latin typeface="DM Serif Display"/>
                <a:ea typeface="DM Serif Display"/>
                <a:cs typeface="DM Serif Display"/>
                <a:sym typeface="DM Serif Display"/>
              </a:rPr>
              <a:t/>
            </a:r>
            <a:endParaRPr dirty="0">
              <a:solidFill>
                <a:schemeClr val="lt1"/>
              </a:solidFill>
              <a:latin typeface="DM Serif Display"/>
              <a:ea typeface="DM Serif Display"/>
              <a:cs typeface="DM Serif Display"/>
              <a:sym typeface="DM Serif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37"/>
          <p:cNvPicPr preferRelativeResize="0"/>
          <p:nvPr/>
        </p:nvPicPr>
        <p:blipFill rotWithShape="1">
          <a:blip r:embed="rId3">
            <a:alphaModFix/>
          </a:blip>
          <a:srcRect t="146" b="47599"/>
          <a:stretch/>
        </p:blipFill>
        <p:spPr>
          <a:xfrm flipH="1">
            <a:off x="-7500" y="0"/>
            <a:ext cx="9139250" cy="5143500"/>
          </a:xfrm>
          <a:prstGeom prst="rect">
            <a:avLst/>
          </a:prstGeom>
          <a:noFill/>
          <a:ln>
            <a:noFill/>
          </a:ln>
        </p:spPr>
      </p:pic>
      <p:sp>
        <p:nvSpPr>
          <p:cNvPr id="246" name="Google Shape;246;p37"/>
          <p:cNvSpPr txBox="1">
            <a:spLocks noGrp="1"/>
          </p:cNvSpPr>
          <p:nvPr>
            <p:ph type="ctrTitle"/>
          </p:nvPr>
        </p:nvSpPr>
        <p:spPr>
          <a:xfrm>
            <a:off x="104076" y="229993"/>
            <a:ext cx="3344847" cy="507043"/>
          </a:xfrm>
          <a:prstGeom prst="rect">
            <a:avLst/>
          </a:prstGeom>
          <a:solidFill>
            <a:schemeClr val="bg1"/>
          </a:solidFill>
        </p:spPr>
        <p:txBody>
          <a:bodyPr spcFirstLastPara="1" wrap="square" lIns="91425" tIns="91425" rIns="91425" bIns="91425" anchor="b" anchorCtr="0">
            <a:noAutofit/>
          </a:bodyPr>
          <a:lstStyle/>
          <a:p>
            <a:pPr lvl="0"/>
            <a:r>
              <a:rPr lang="en-IN" dirty="0"/>
              <a:t>Comparing the Options</a:t>
            </a:r>
            <a:endParaRPr dirty="0"/>
          </a:p>
        </p:txBody>
      </p:sp>
      <p:graphicFrame>
        <p:nvGraphicFramePr>
          <p:cNvPr id="6" name="Table 5">
            <a:extLst>
              <a:ext uri="{FF2B5EF4-FFF2-40B4-BE49-F238E27FC236}">
                <a16:creationId xmlns:a16="http://schemas.microsoft.com/office/drawing/2014/main" id="{06C3EBCA-3D28-77E3-AE9F-07F7094F928B}"/>
              </a:ext>
            </a:extLst>
          </p:cNvPr>
          <p:cNvGraphicFramePr>
            <a:graphicFrameLocks noGrp="1"/>
          </p:cNvGraphicFramePr>
          <p:nvPr>
            <p:extLst>
              <p:ext uri="{D42A27DB-BD31-4B8C-83A1-F6EECF244321}">
                <p14:modId xmlns:p14="http://schemas.microsoft.com/office/powerpoint/2010/main" val="1705338463"/>
              </p:ext>
            </p:extLst>
          </p:nvPr>
        </p:nvGraphicFramePr>
        <p:xfrm>
          <a:off x="411480" y="1005840"/>
          <a:ext cx="8321040" cy="2240280"/>
        </p:xfrm>
        <a:graphic>
          <a:graphicData uri="http://schemas.openxmlformats.org/drawingml/2006/table">
            <a:tbl>
              <a:tblPr>
                <a:tableStyleId>{284E427A-3D55-4303-BF80-6455036E1DE7}</a:tableStyleId>
              </a:tblPr>
              <a:tblGrid>
                <a:gridCol w="1704340">
                  <a:extLst>
                    <a:ext uri="{9D8B030D-6E8A-4147-A177-3AD203B41FA5}">
                      <a16:colId xmlns:a16="http://schemas.microsoft.com/office/drawing/2014/main" val="452476306"/>
                    </a:ext>
                  </a:extLst>
                </a:gridCol>
                <a:gridCol w="1704340">
                  <a:extLst>
                    <a:ext uri="{9D8B030D-6E8A-4147-A177-3AD203B41FA5}">
                      <a16:colId xmlns:a16="http://schemas.microsoft.com/office/drawing/2014/main" val="1321282391"/>
                    </a:ext>
                  </a:extLst>
                </a:gridCol>
                <a:gridCol w="1704340">
                  <a:extLst>
                    <a:ext uri="{9D8B030D-6E8A-4147-A177-3AD203B41FA5}">
                      <a16:colId xmlns:a16="http://schemas.microsoft.com/office/drawing/2014/main" val="2232574449"/>
                    </a:ext>
                  </a:extLst>
                </a:gridCol>
                <a:gridCol w="1704340">
                  <a:extLst>
                    <a:ext uri="{9D8B030D-6E8A-4147-A177-3AD203B41FA5}">
                      <a16:colId xmlns:a16="http://schemas.microsoft.com/office/drawing/2014/main" val="1861796921"/>
                    </a:ext>
                  </a:extLst>
                </a:gridCol>
                <a:gridCol w="1704340">
                  <a:extLst>
                    <a:ext uri="{9D8B030D-6E8A-4147-A177-3AD203B41FA5}">
                      <a16:colId xmlns:a16="http://schemas.microsoft.com/office/drawing/2014/main" val="1950253642"/>
                    </a:ext>
                  </a:extLst>
                </a:gridCol>
              </a:tblGrid>
              <a:tr h="274320">
                <a:tc>
                  <a:txBody>
                    <a:bodyPr wrap="square" lIns="50292" rIns="50292" tIns="22860" bIns="22860"/>
                    <a:lstStyle/>
                    <a:p>
                      <a:pPr>
                        <a:lnSpc>
                          <a:spcPct val="88000"/>
                        </a:lnSpc>
                        <a:spcBef>
                          <a:spcPts val="0"/>
                        </a:spcBef>
                        <a:spcAft>
                          <a:spcPts val="0"/>
                        </a:spcAft>
                      </a:pPr>
                      <a:r>
                        <a:rPr sz="750" b="1"/>
                        <a:t>Client Consideration</a:t>
                      </a:r>
                    </a:p>
                  </a:txBody>
                  <a:tcPr anchor="ctr"/>
                </a:tc>
                <a:tc>
                  <a:txBody>
                    <a:bodyPr wrap="square" lIns="50292" rIns="50292" tIns="22860" bIns="22860"/>
                    <a:lstStyle/>
                    <a:p>
                      <a:pPr>
                        <a:lnSpc>
                          <a:spcPct val="88000"/>
                        </a:lnSpc>
                        <a:spcBef>
                          <a:spcPts val="0"/>
                        </a:spcBef>
                        <a:spcAft>
                          <a:spcPts val="0"/>
                        </a:spcAft>
                      </a:pPr>
                      <a:r>
                        <a:rPr sz="750" b="1"/>
                        <a:t>Niva Bupa</a:t>
                      </a:r>
                    </a:p>
                  </a:txBody>
                  <a:tcPr anchor="ctr"/>
                </a:tc>
                <a:tc>
                  <a:txBody>
                    <a:bodyPr wrap="square" lIns="50292" rIns="50292" tIns="22860" bIns="22860"/>
                    <a:lstStyle/>
                    <a:p>
                      <a:pPr>
                        <a:lnSpc>
                          <a:spcPct val="88000"/>
                        </a:lnSpc>
                        <a:spcBef>
                          <a:spcPts val="0"/>
                        </a:spcBef>
                        <a:spcAft>
                          <a:spcPts val="0"/>
                        </a:spcAft>
                      </a:pPr>
                      <a:r>
                        <a:rPr sz="750" b="1"/>
                        <a:t>HDFC ERGO</a:t>
                      </a:r>
                    </a:p>
                  </a:txBody>
                  <a:tcPr anchor="ctr"/>
                </a:tc>
                <a:tc>
                  <a:txBody>
                    <a:bodyPr wrap="square" lIns="50292" rIns="50292" tIns="22860" bIns="22860"/>
                    <a:lstStyle/>
                    <a:p>
                      <a:pPr>
                        <a:lnSpc>
                          <a:spcPct val="88000"/>
                        </a:lnSpc>
                        <a:spcBef>
                          <a:spcPts val="0"/>
                        </a:spcBef>
                        <a:spcAft>
                          <a:spcPts val="0"/>
                        </a:spcAft>
                      </a:pPr>
                    </a:p>
                  </a:txBody>
                  <a:tcPr anchor="ctr"/>
                </a:tc>
                <a:tc>
                  <a:txBody>
                    <a:bodyPr wrap="square" lIns="50292" rIns="50292" tIns="22860" bIns="22860"/>
                    <a:lstStyle/>
                    <a:p>
                      <a:pPr>
                        <a:lnSpc>
                          <a:spcPct val="88000"/>
                        </a:lnSpc>
                        <a:spcBef>
                          <a:spcPts val="0"/>
                        </a:spcBef>
                        <a:spcAft>
                          <a:spcPts val="0"/>
                        </a:spcAft>
                      </a:pPr>
                    </a:p>
                  </a:txBody>
                  <a:tcPr anchor="ctr"/>
                </a:tc>
                <a:extLst>
                  <a:ext uri="{0D108BD9-81ED-4DB2-BD59-A6C34878D82A}">
                    <a16:rowId xmlns:a16="http://schemas.microsoft.com/office/drawing/2014/main" val="1444758238"/>
                  </a:ext>
                </a:extLst>
              </a:tr>
              <a:tr h="365760">
                <a:tc>
                  <a:txBody>
                    <a:bodyPr wrap="square" lIns="50292" rIns="50292" tIns="22860" bIns="22860"/>
                    <a:lstStyle/>
                    <a:p>
                      <a:pPr>
                        <a:lnSpc>
                          <a:spcPct val="88000"/>
                        </a:lnSpc>
                        <a:spcBef>
                          <a:spcPts val="0"/>
                        </a:spcBef>
                        <a:spcAft>
                          <a:spcPts val="0"/>
                        </a:spcAft>
                      </a:pPr>
                      <a:r>
                        <a:rPr sz="650"/>
                        <a:t>Hospitalisation coverage for a large…</a:t>
                      </a:r>
                    </a:p>
                  </a:txBody>
                  <a:tcPr anchor="ctr"/>
                </a:tc>
                <a:tc>
                  <a:txBody>
                    <a:bodyPr wrap="square" lIns="50292" rIns="50292" tIns="22860" bIns="22860"/>
                    <a:lstStyle/>
                    <a:p>
                      <a:pPr>
                        <a:lnSpc>
                          <a:spcPct val="88000"/>
                        </a:lnSpc>
                        <a:spcBef>
                          <a:spcPts val="0"/>
                        </a:spcBef>
                        <a:spcAft>
                          <a:spcPts val="0"/>
                        </a:spcAft>
                      </a:pPr>
                      <a:r>
                        <a:rPr sz="650"/>
                        <a:t>Air Ambulance is…</a:t>
                      </a:r>
                    </a:p>
                  </a:txBody>
                  <a:tcPr anchor="ctr"/>
                </a:tc>
                <a:tc>
                  <a:txBody>
                    <a:bodyPr wrap="square" lIns="50292" rIns="50292" tIns="22860" bIns="22860"/>
                    <a:lstStyle/>
                    <a:p>
                      <a:pPr>
                        <a:lnSpc>
                          <a:spcPct val="88000"/>
                        </a:lnSpc>
                        <a:spcBef>
                          <a:spcPts val="0"/>
                        </a:spcBef>
                        <a:spcAft>
                          <a:spcPts val="0"/>
                        </a:spcAft>
                      </a:pPr>
                      <a:r>
                        <a:rPr sz="650"/>
                        <a:t>Hospitalisation…</a:t>
                      </a:r>
                    </a:p>
                  </a:txBody>
                  <a:tcPr anchor="ctr"/>
                </a:tc>
                <a:tc>
                  <a:txBody>
                    <a:bodyPr wrap="square" lIns="50292" rIns="50292" tIns="22860" bIns="22860"/>
                    <a:lstStyle/>
                    <a:p>
                      <a:pPr>
                        <a:lnSpc>
                          <a:spcPct val="88000"/>
                        </a:lnSpc>
                        <a:spcBef>
                          <a:spcPts val="0"/>
                        </a:spcBef>
                        <a:spcAft>
                          <a:spcPts val="0"/>
                        </a:spcAft>
                      </a:pPr>
                    </a:p>
                  </a:txBody>
                  <a:tcPr anchor="ctr"/>
                </a:tc>
                <a:tc>
                  <a:txBody>
                    <a:bodyPr wrap="square" lIns="50292" rIns="50292" tIns="22860" bIns="22860"/>
                    <a:lstStyle/>
                    <a:p>
                      <a:pPr>
                        <a:lnSpc>
                          <a:spcPct val="88000"/>
                        </a:lnSpc>
                        <a:spcBef>
                          <a:spcPts val="0"/>
                        </a:spcBef>
                        <a:spcAft>
                          <a:spcPts val="0"/>
                        </a:spcAft>
                      </a:pPr>
                    </a:p>
                  </a:txBody>
                  <a:tcPr anchor="ctr"/>
                </a:tc>
                <a:extLst>
                  <a:ext uri="{0D108BD9-81ED-4DB2-BD59-A6C34878D82A}">
                    <a16:rowId xmlns:a16="http://schemas.microsoft.com/office/drawing/2014/main" val="401711130"/>
                  </a:ext>
                </a:extLst>
              </a:tr>
              <a:tr h="365760">
                <a:tc>
                  <a:txBody>
                    <a:bodyPr wrap="square" lIns="50292" rIns="50292" tIns="22860" bIns="22860"/>
                    <a:lstStyle/>
                    <a:p>
                      <a:pPr>
                        <a:lnSpc>
                          <a:spcPct val="88000"/>
                        </a:lnSpc>
                        <a:spcBef>
                          <a:spcPts val="0"/>
                        </a:spcBef>
                        <a:spcAft>
                          <a:spcPts val="0"/>
                        </a:spcAft>
                      </a:pPr>
                      <a:r>
                        <a:rPr sz="650"/>
                        <a:t>Emergency transport (air and road) for…</a:t>
                      </a:r>
                    </a:p>
                  </a:txBody>
                  <a:tcPr anchor="ctr"/>
                </a:tc>
                <a:tc>
                  <a:txBody>
                    <a:bodyPr wrap="square" lIns="50292" rIns="50292" tIns="22860" bIns="22860"/>
                    <a:lstStyle/>
                    <a:p>
                      <a:pPr>
                        <a:lnSpc>
                          <a:spcPct val="88000"/>
                        </a:lnSpc>
                        <a:spcBef>
                          <a:spcPts val="0"/>
                        </a:spcBef>
                        <a:spcAft>
                          <a:spcPts val="0"/>
                        </a:spcAft>
                      </a:pPr>
                      <a:r>
                        <a:rPr sz="650"/>
                        <a:t>In‑patient Care…</a:t>
                      </a:r>
                    </a:p>
                  </a:txBody>
                  <a:tcPr anchor="ctr"/>
                </a:tc>
                <a:tc>
                  <a:txBody>
                    <a:bodyPr wrap="square" lIns="50292" rIns="50292" tIns="22860" bIns="22860"/>
                    <a:lstStyle/>
                    <a:p>
                      <a:pPr>
                        <a:lnSpc>
                          <a:spcPct val="88000"/>
                        </a:lnSpc>
                        <a:spcBef>
                          <a:spcPts val="0"/>
                        </a:spcBef>
                        <a:spcAft>
                          <a:spcPts val="0"/>
                        </a:spcAft>
                      </a:pPr>
                      <a:r>
                        <a:rPr sz="650"/>
                        <a:t>Preventive Health…</a:t>
                      </a:r>
                    </a:p>
                  </a:txBody>
                  <a:tcPr anchor="ctr"/>
                </a:tc>
                <a:tc>
                  <a:txBody>
                    <a:bodyPr wrap="square" lIns="50292" rIns="50292" tIns="22860" bIns="22860"/>
                    <a:lstStyle/>
                    <a:p>
                      <a:pPr>
                        <a:lnSpc>
                          <a:spcPct val="88000"/>
                        </a:lnSpc>
                        <a:spcBef>
                          <a:spcPts val="0"/>
                        </a:spcBef>
                        <a:spcAft>
                          <a:spcPts val="0"/>
                        </a:spcAft>
                      </a:pPr>
                    </a:p>
                  </a:txBody>
                  <a:tcPr anchor="ctr"/>
                </a:tc>
                <a:tc>
                  <a:txBody>
                    <a:bodyPr wrap="square" lIns="50292" rIns="50292" tIns="22860" bIns="22860"/>
                    <a:lstStyle/>
                    <a:p>
                      <a:pPr>
                        <a:lnSpc>
                          <a:spcPct val="88000"/>
                        </a:lnSpc>
                        <a:spcBef>
                          <a:spcPts val="0"/>
                        </a:spcBef>
                        <a:spcAft>
                          <a:spcPts val="0"/>
                        </a:spcAft>
                      </a:pPr>
                    </a:p>
                  </a:txBody>
                  <a:tcPr anchor="ctr"/>
                </a:tc>
                <a:extLst>
                  <a:ext uri="{0D108BD9-81ED-4DB2-BD59-A6C34878D82A}">
                    <a16:rowId xmlns:a16="http://schemas.microsoft.com/office/drawing/2014/main" val="2664019988"/>
                  </a:ext>
                </a:extLst>
              </a:tr>
              <a:tr h="365760">
                <a:tc>
                  <a:txBody>
                    <a:bodyPr wrap="square" lIns="50292" rIns="50292" tIns="22860" bIns="22860"/>
                    <a:lstStyle/>
                    <a:p>
                      <a:pPr>
                        <a:lnSpc>
                          <a:spcPct val="88000"/>
                        </a:lnSpc>
                        <a:spcBef>
                          <a:spcPts val="0"/>
                        </a:spcBef>
                        <a:spcAft>
                          <a:spcPts val="0"/>
                        </a:spcAft>
                      </a:pPr>
                      <a:r>
                        <a:rPr sz="650"/>
                        <a:t>Broad employee health benefits including…</a:t>
                      </a:r>
                    </a:p>
                  </a:txBody>
                  <a:tcPr anchor="ctr"/>
                </a:tc>
                <a:tc>
                  <a:txBody>
                    <a:bodyPr wrap="square" lIns="50292" rIns="50292" tIns="22860" bIns="22860"/>
                    <a:lstStyle/>
                    <a:p>
                      <a:pPr>
                        <a:lnSpc>
                          <a:spcPct val="88000"/>
                        </a:lnSpc>
                        <a:spcBef>
                          <a:spcPts val="0"/>
                        </a:spcBef>
                        <a:spcAft>
                          <a:spcPts val="0"/>
                        </a:spcAft>
                      </a:pPr>
                      <a:r>
                        <a:rPr sz="650"/>
                        <a:t>Explicitly includes…</a:t>
                      </a:r>
                    </a:p>
                  </a:txBody>
                  <a:tcPr anchor="ctr"/>
                </a:tc>
                <a:tc>
                  <a:txBody>
                    <a:bodyPr wrap="square" lIns="50292" rIns="50292" tIns="22860" bIns="22860"/>
                    <a:lstStyle/>
                    <a:p>
                      <a:pPr>
                        <a:lnSpc>
                          <a:spcPct val="88000"/>
                        </a:lnSpc>
                        <a:spcBef>
                          <a:spcPts val="0"/>
                        </a:spcBef>
                        <a:spcAft>
                          <a:spcPts val="0"/>
                        </a:spcAft>
                      </a:pPr>
                      <a:r>
                        <a:rPr sz="650"/>
                        <a:t>Provides…</a:t>
                      </a:r>
                    </a:p>
                  </a:txBody>
                  <a:tcPr anchor="ctr"/>
                </a:tc>
                <a:tc>
                  <a:txBody>
                    <a:bodyPr wrap="square" lIns="50292" rIns="50292" tIns="22860" bIns="22860"/>
                    <a:lstStyle/>
                    <a:p>
                      <a:pPr>
                        <a:lnSpc>
                          <a:spcPct val="88000"/>
                        </a:lnSpc>
                        <a:spcBef>
                          <a:spcPts val="0"/>
                        </a:spcBef>
                        <a:spcAft>
                          <a:spcPts val="0"/>
                        </a:spcAft>
                      </a:pPr>
                    </a:p>
                  </a:txBody>
                  <a:tcPr anchor="ctr"/>
                </a:tc>
                <a:tc>
                  <a:txBody>
                    <a:bodyPr wrap="square" lIns="50292" rIns="50292" tIns="22860" bIns="22860"/>
                    <a:lstStyle/>
                    <a:p>
                      <a:pPr>
                        <a:lnSpc>
                          <a:spcPct val="88000"/>
                        </a:lnSpc>
                        <a:spcBef>
                          <a:spcPts val="0"/>
                        </a:spcBef>
                        <a:spcAft>
                          <a:spcPts val="0"/>
                        </a:spcAft>
                      </a:pPr>
                    </a:p>
                  </a:txBody>
                  <a:tcPr anchor="ctr"/>
                </a:tc>
                <a:extLst>
                  <a:ext uri="{0D108BD9-81ED-4DB2-BD59-A6C34878D82A}">
                    <a16:rowId xmlns:a16="http://schemas.microsoft.com/office/drawing/2014/main" val="1290295680"/>
                  </a:ext>
                </a:extLst>
              </a:tr>
              <a:tr h="365760">
                <a:tc>
                  <a:txBody>
                    <a:bodyPr wrap="square" lIns="50292" rIns="50292" tIns="22860" bIns="22860"/>
                    <a:lstStyle/>
                    <a:p>
                      <a:pPr>
                        <a:lnSpc>
                          <a:spcPct val="88000"/>
                        </a:lnSpc>
                        <a:spcBef>
                          <a:spcPts val="0"/>
                        </a:spcBef>
                        <a:spcAft>
                          <a:spcPts val="0"/>
                        </a:spcAft>
                      </a:pPr>
                      <a:r>
                        <a:rPr sz="650"/>
                        <a:t>Potential exposure: Managing health‑insurance…</a:t>
                      </a:r>
                    </a:p>
                  </a:txBody>
                  <a:tcPr anchor="ctr"/>
                </a:tc>
                <a:tc>
                  <a:txBody>
                    <a:bodyPr wrap="square" lIns="50292" rIns="50292" tIns="22860" bIns="22860"/>
                    <a:lstStyle/>
                    <a:p>
                      <a:pPr>
                        <a:lnSpc>
                          <a:spcPct val="88000"/>
                        </a:lnSpc>
                        <a:spcBef>
                          <a:spcPts val="0"/>
                        </a:spcBef>
                        <a:spcAft>
                          <a:spcPts val="0"/>
                        </a:spcAft>
                      </a:pPr>
                      <a:r>
                        <a:rPr sz="650"/>
                        <a:t>Explicitly includes…</a:t>
                      </a:r>
                    </a:p>
                  </a:txBody>
                  <a:tcPr anchor="ctr"/>
                </a:tc>
                <a:tc>
                  <a:txBody>
                    <a:bodyPr wrap="square" lIns="50292" rIns="50292" tIns="22860" bIns="22860"/>
                    <a:lstStyle/>
                    <a:p>
                      <a:pPr>
                        <a:lnSpc>
                          <a:spcPct val="88000"/>
                        </a:lnSpc>
                        <a:spcBef>
                          <a:spcPts val="0"/>
                        </a:spcBef>
                        <a:spcAft>
                          <a:spcPts val="0"/>
                        </a:spcAft>
                      </a:pPr>
                      <a:r>
                        <a:rPr sz="650"/>
                        <a:t>Provides…</a:t>
                      </a:r>
                    </a:p>
                  </a:txBody>
                  <a:tcPr anchor="ctr"/>
                </a:tc>
                <a:tc>
                  <a:txBody>
                    <a:bodyPr wrap="square" lIns="50292" rIns="50292" tIns="22860" bIns="22860"/>
                    <a:lstStyle/>
                    <a:p>
                      <a:pPr>
                        <a:lnSpc>
                          <a:spcPct val="88000"/>
                        </a:lnSpc>
                        <a:spcBef>
                          <a:spcPts val="0"/>
                        </a:spcBef>
                        <a:spcAft>
                          <a:spcPts val="0"/>
                        </a:spcAft>
                      </a:pPr>
                    </a:p>
                  </a:txBody>
                  <a:tcPr anchor="ctr"/>
                </a:tc>
                <a:tc>
                  <a:txBody>
                    <a:bodyPr wrap="square" lIns="50292" rIns="50292" tIns="22860" bIns="22860"/>
                    <a:lstStyle/>
                    <a:p>
                      <a:pPr>
                        <a:lnSpc>
                          <a:spcPct val="88000"/>
                        </a:lnSpc>
                        <a:spcBef>
                          <a:spcPts val="0"/>
                        </a:spcBef>
                        <a:spcAft>
                          <a:spcPts val="0"/>
                        </a:spcAft>
                      </a:pPr>
                    </a:p>
                  </a:txBody>
                  <a:tcPr anchor="ctr"/>
                </a:tc>
                <a:extLst>
                  <a:ext uri="{0D108BD9-81ED-4DB2-BD59-A6C34878D82A}">
                    <a16:rowId xmlns:a16="http://schemas.microsoft.com/office/drawing/2014/main" val="3434720104"/>
                  </a:ext>
                </a:extLst>
              </a:tr>
              <a:tr h="347472">
                <a:tc>
                  <a:txBody>
                    <a:bodyPr wrap="square" lIns="50292" rIns="50292" tIns="22860" bIns="22860"/>
                    <a:lstStyle/>
                    <a:p>
                      <a:pPr>
                        <a:lnSpc>
                          <a:spcPct val="88000"/>
                        </a:lnSpc>
                        <a:spcBef>
                          <a:spcPts val="0"/>
                        </a:spcBef>
                        <a:spcAft>
                          <a:spcPts val="0"/>
                        </a:spcAft>
                      </a:pPr>
                      <a:r>
                        <a:rPr sz="650"/>
                        <a:t>Key limitation</a:t>
                      </a:r>
                    </a:p>
                  </a:txBody>
                  <a:tcPr anchor="ctr"/>
                </a:tc>
                <a:tc>
                  <a:txBody>
                    <a:bodyPr wrap="square" lIns="50292" rIns="50292" tIns="22860" bIns="22860"/>
                    <a:lstStyle/>
                    <a:p>
                      <a:pPr>
                        <a:lnSpc>
                          <a:spcPct val="88000"/>
                        </a:lnSpc>
                        <a:spcBef>
                          <a:spcPts val="0"/>
                        </a:spcBef>
                        <a:spcAft>
                          <a:spcPts val="0"/>
                        </a:spcAft>
                      </a:pPr>
                      <a:r>
                        <a:rPr sz="650"/>
                        <a:t>The brochure does not…</a:t>
                      </a:r>
                    </a:p>
                  </a:txBody>
                  <a:tcPr anchor="ctr"/>
                </a:tc>
                <a:tc>
                  <a:txBody>
                    <a:bodyPr wrap="square" lIns="50292" rIns="50292" tIns="22860" bIns="22860"/>
                    <a:lstStyle/>
                    <a:p>
                      <a:pPr>
                        <a:lnSpc>
                          <a:spcPct val="88000"/>
                        </a:lnSpc>
                        <a:spcBef>
                          <a:spcPts val="0"/>
                        </a:spcBef>
                        <a:spcAft>
                          <a:spcPts val="0"/>
                        </a:spcAft>
                      </a:pPr>
                      <a:r>
                        <a:rPr sz="650"/>
                        <a:t>No explicit…</a:t>
                      </a:r>
                    </a:p>
                  </a:txBody>
                  <a:tcPr anchor="ctr"/>
                </a:tc>
                <a:tc>
                  <a:txBody>
                    <a:bodyPr wrap="square" lIns="50292" rIns="50292" tIns="22860" bIns="22860"/>
                    <a:lstStyle/>
                    <a:p>
                      <a:pPr>
                        <a:lnSpc>
                          <a:spcPct val="88000"/>
                        </a:lnSpc>
                        <a:spcBef>
                          <a:spcPts val="0"/>
                        </a:spcBef>
                        <a:spcAft>
                          <a:spcPts val="0"/>
                        </a:spcAft>
                      </a:pPr>
                    </a:p>
                  </a:txBody>
                  <a:tcPr anchor="ctr"/>
                </a:tc>
                <a:tc>
                  <a:txBody>
                    <a:bodyPr wrap="square" lIns="50292" rIns="50292" tIns="22860" bIns="22860"/>
                    <a:lstStyle/>
                    <a:p>
                      <a:pPr>
                        <a:lnSpc>
                          <a:spcPct val="88000"/>
                        </a:lnSpc>
                        <a:spcBef>
                          <a:spcPts val="0"/>
                        </a:spcBef>
                        <a:spcAft>
                          <a:spcPts val="0"/>
                        </a:spcAft>
                      </a:pPr>
                    </a:p>
                  </a:txBody>
                  <a:tcPr anchor="ctr"/>
                </a:tc>
                <a:extLst>
                  <a:ext uri="{0D108BD9-81ED-4DB2-BD59-A6C34878D82A}">
                    <a16:rowId xmlns:a16="http://schemas.microsoft.com/office/drawing/2014/main" val="408094777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84B6721E-BD8B-8CA6-325E-3024D5C9DA94}"/>
            </a:ext>
          </a:extLst>
        </p:cNvPr>
        <p:cNvGrpSpPr/>
        <p:nvPr/>
      </p:nvGrpSpPr>
      <p:grpSpPr>
        <a:xfrm>
          <a:off x="0" y="0"/>
          <a:ext cx="0" cy="0"/>
          <a:chOff x="0" y="0"/>
          <a:chExt cx="0" cy="0"/>
        </a:xfrm>
      </p:grpSpPr>
      <p:pic>
        <p:nvPicPr>
          <p:cNvPr id="245" name="Google Shape;245;p37">
            <a:extLst>
              <a:ext uri="{FF2B5EF4-FFF2-40B4-BE49-F238E27FC236}">
                <a16:creationId xmlns:a16="http://schemas.microsoft.com/office/drawing/2014/main" id="{05E01358-41A3-FE08-E89B-79F5A3047696}"/>
              </a:ext>
            </a:extLst>
          </p:cNvPr>
          <p:cNvPicPr preferRelativeResize="0"/>
          <p:nvPr/>
        </p:nvPicPr>
        <p:blipFill rotWithShape="1">
          <a:blip r:embed="rId3">
            <a:alphaModFix/>
          </a:blip>
          <a:srcRect t="146" b="47599"/>
          <a:stretch/>
        </p:blipFill>
        <p:spPr>
          <a:xfrm flipH="1">
            <a:off x="-7500" y="0"/>
            <a:ext cx="9139250" cy="3183724"/>
          </a:xfrm>
          <a:prstGeom prst="rect">
            <a:avLst/>
          </a:prstGeom>
          <a:noFill/>
          <a:ln>
            <a:noFill/>
          </a:ln>
        </p:spPr>
      </p:pic>
      <p:sp>
        <p:nvSpPr>
          <p:cNvPr id="246" name="Google Shape;246;p37">
            <a:extLst>
              <a:ext uri="{FF2B5EF4-FFF2-40B4-BE49-F238E27FC236}">
                <a16:creationId xmlns:a16="http://schemas.microsoft.com/office/drawing/2014/main" id="{DC970430-97DB-E4C1-1E14-FFFA95E4B346}"/>
              </a:ext>
            </a:extLst>
          </p:cNvPr>
          <p:cNvSpPr txBox="1">
            <a:spLocks noGrp="1"/>
          </p:cNvSpPr>
          <p:nvPr>
            <p:ph type="ctrTitle"/>
          </p:nvPr>
        </p:nvSpPr>
        <p:spPr>
          <a:xfrm>
            <a:off x="104076" y="229993"/>
            <a:ext cx="3344847" cy="507043"/>
          </a:xfrm>
          <a:prstGeom prst="rect">
            <a:avLst/>
          </a:prstGeom>
          <a:solidFill>
            <a:schemeClr val="bg1"/>
          </a:solidFill>
        </p:spPr>
        <p:txBody>
          <a:bodyPr spcFirstLastPara="1" wrap="square" lIns="91425" tIns="91425" rIns="91425" bIns="91425" anchor="b" anchorCtr="0">
            <a:noAutofit/>
          </a:bodyPr>
          <a:lstStyle/>
          <a:p>
            <a:pPr lvl="0"/>
            <a:r>
              <a:rPr lang="en-IN" dirty="0"/>
              <a:t>Our Recommendation</a:t>
            </a:r>
            <a:endParaRPr dirty="0"/>
          </a:p>
        </p:txBody>
      </p:sp>
      <p:sp>
        <p:nvSpPr>
          <p:cNvPr id="247" name="Google Shape;247;p37">
            <a:extLst>
              <a:ext uri="{FF2B5EF4-FFF2-40B4-BE49-F238E27FC236}">
                <a16:creationId xmlns:a16="http://schemas.microsoft.com/office/drawing/2014/main" id="{EB3E0C9A-8F77-C849-6417-87DF1FCF9D01}"/>
              </a:ext>
            </a:extLst>
          </p:cNvPr>
          <p:cNvSpPr txBox="1">
            <a:spLocks noGrp="1"/>
          </p:cNvSpPr>
          <p:nvPr>
            <p:ph type="subTitle" idx="1"/>
          </p:nvPr>
        </p:nvSpPr>
        <p:spPr>
          <a:xfrm>
            <a:off x="3729462" y="4407985"/>
            <a:ext cx="5161777" cy="520391"/>
          </a:xfrm>
          <a:prstGeom prst="rect">
            <a:avLst/>
          </a:prstGeom>
        </p:spPr>
        <p:txBody>
          <a:bodyPr spcFirstLastPara="1" wrap="square" lIns="91425" tIns="91425" rIns="91425" bIns="91425" anchor="t" anchorCtr="0">
            <a:noAutofit/>
          </a:bodyPr>
          <a:lstStyle/>
          <a:p>
            <a:pPr marL="0" lvl="0" indent="0">
              <a:buSzPts val="1100"/>
            </a:pPr>
            <a:r>
              <a:rPr lang="en-IN" dirty="0"/>
              <a:t>Recommendation is advisory. Final policy selection remains with the client following review of policy terms, exclusions, pricing and insurer quotation.</a:t>
            </a:r>
            <a:endParaRPr dirty="0"/>
          </a:p>
        </p:txBody>
      </p:sp>
      <p:sp>
        <p:nvSpPr>
          <p:cNvPr id="248" name="Google Shape;248;p37">
            <a:extLst>
              <a:ext uri="{FF2B5EF4-FFF2-40B4-BE49-F238E27FC236}">
                <a16:creationId xmlns:a16="http://schemas.microsoft.com/office/drawing/2014/main" id="{ABBE7EA6-3F75-4AB0-277D-02379773A325}"/>
              </a:ext>
            </a:extLst>
          </p:cNvPr>
          <p:cNvSpPr/>
          <p:nvPr/>
        </p:nvSpPr>
        <p:spPr>
          <a:xfrm>
            <a:off x="393255" y="1040780"/>
            <a:ext cx="8200617" cy="1880840"/>
          </a:xfrm>
          <a:prstGeom prst="rect">
            <a:avLst/>
          </a:prstGeom>
          <a:ln>
            <a:headEnd type="none" w="sm" len="sm"/>
            <a:tailEnd type="none" w="sm" len="sm"/>
          </a:ln>
        </p:spPr>
        <p:style>
          <a:lnRef idx="2">
            <a:schemeClr val="accent4"/>
          </a:lnRef>
          <a:fillRef idx="1">
            <a:schemeClr val="lt1"/>
          </a:fillRef>
          <a:effectRef idx="0">
            <a:schemeClr val="accent4"/>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7">
            <a:extLst>
              <a:ext uri="{FF2B5EF4-FFF2-40B4-BE49-F238E27FC236}">
                <a16:creationId xmlns:a16="http://schemas.microsoft.com/office/drawing/2014/main" id="{6DD3A555-5DC0-5595-1C24-40E430AC6629}"/>
              </a:ext>
            </a:extLst>
          </p:cNvPr>
          <p:cNvSpPr txBox="1">
            <a:spLocks noGrp="1"/>
          </p:cNvSpPr>
          <p:nvPr>
            <p:ph type="ctrTitle" idx="3"/>
          </p:nvPr>
        </p:nvSpPr>
        <p:spPr>
          <a:xfrm>
            <a:off x="2222809" y="1082640"/>
            <a:ext cx="4490482" cy="46585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dirty="0"/>
              <a:t>Why Niva Bupa merits consideration</a:t>
            </a:r>
            <a:endParaRPr sz="1400" dirty="0"/>
          </a:p>
        </p:txBody>
      </p:sp>
      <p:sp>
        <p:nvSpPr>
          <p:cNvPr id="250" name="Google Shape;250;p37">
            <a:extLst>
              <a:ext uri="{FF2B5EF4-FFF2-40B4-BE49-F238E27FC236}">
                <a16:creationId xmlns:a16="http://schemas.microsoft.com/office/drawing/2014/main" id="{107AFDA0-4CCB-B83D-648D-3F359FFDF443}"/>
              </a:ext>
            </a:extLst>
          </p:cNvPr>
          <p:cNvSpPr txBox="1">
            <a:spLocks noGrp="1"/>
          </p:cNvSpPr>
          <p:nvPr>
            <p:ph type="subTitle" idx="2"/>
          </p:nvPr>
        </p:nvSpPr>
        <p:spPr>
          <a:xfrm>
            <a:off x="990017" y="1461864"/>
            <a:ext cx="7144215" cy="1310887"/>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en-IN" sz="1050" dirty="0"/>
              <a:t>Niva Bupa’s documented air‑ambulance benefit directly satisfies Tata’s emergency transport priority, while its inclusive in‑patient (including AYUSH) coverage supports the broad health‑coverage need across diverse employee groups. The evidence is clear, specific, and aligns with the three stated client priorities.</a:t>
            </a:r>
            <a:endParaRPr sz="1050" dirty="0"/>
          </a:p>
        </p:txBody>
      </p:sp>
    </p:spTree>
    <p:extLst>
      <p:ext uri="{BB962C8B-B14F-4D97-AF65-F5344CB8AC3E}">
        <p14:creationId xmlns:p14="http://schemas.microsoft.com/office/powerpoint/2010/main" val="1547671214"/>
      </p:ext>
    </p:extLst>
  </p:cSld>
  <p:clrMapOvr>
    <a:masterClrMapping/>
  </p:clrMapOvr>
</p:sld>
</file>

<file path=ppt/theme/theme1.xml><?xml version="1.0" encoding="utf-8"?>
<a:theme xmlns:a="http://schemas.openxmlformats.org/drawingml/2006/main" name="Invesment Business Plan by Slidego">
  <a:themeElements>
    <a:clrScheme name="Simple Light">
      <a:dk1>
        <a:srgbClr val="254C6D"/>
      </a:dk1>
      <a:lt1>
        <a:srgbClr val="F3F3F3"/>
      </a:lt1>
      <a:dk2>
        <a:srgbClr val="254C6D"/>
      </a:dk2>
      <a:lt2>
        <a:srgbClr val="EEEEEE"/>
      </a:lt2>
      <a:accent1>
        <a:srgbClr val="254C6D"/>
      </a:accent1>
      <a:accent2>
        <a:srgbClr val="254C6D"/>
      </a:accent2>
      <a:accent3>
        <a:srgbClr val="254C6D"/>
      </a:accent3>
      <a:accent4>
        <a:srgbClr val="254C6D"/>
      </a:accent4>
      <a:accent5>
        <a:srgbClr val="254C6D"/>
      </a:accent5>
      <a:accent6>
        <a:srgbClr val="254C6D"/>
      </a:accent6>
      <a:hlink>
        <a:srgbClr val="254C6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378</Words>
  <Application>Microsoft Office PowerPoint</Application>
  <PresentationFormat>On-screen Show (16:9)</PresentationFormat>
  <Paragraphs>101</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DM Serif Display</vt:lpstr>
      <vt:lpstr>Open Sans Light</vt:lpstr>
      <vt:lpstr>Invesment Business Plan by Slidego</vt:lpstr>
      <vt:lpstr>[COMPANY_NAME]</vt:lpstr>
      <vt:lpstr>Recommended for Consideration:  [RECOMMENDED_POLICY]</vt:lpstr>
      <vt:lpstr>Other Policies Considered</vt:lpstr>
      <vt:lpstr>Comparing the Options</vt:lpstr>
      <vt:lpstr>Our 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Surbhi</dc:creator>
  <cp:lastModifiedBy>Surbhi Shirvatkar</cp:lastModifiedBy>
  <cp:revision>19</cp:revision>
  <dcterms:modified xsi:type="dcterms:W3CDTF">2026-09-27T09:42:07Z</dcterms:modified>
</cp:coreProperties>
</file>